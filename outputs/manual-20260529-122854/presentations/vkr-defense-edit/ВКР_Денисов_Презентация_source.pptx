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Golos Text"/>
      <p:regular r:id="rId32"/>
      <p:bold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z1ukYvvoWH0psUmm6bPUYEe97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Денисов Илья"/>
  <p:cmAuthor clrIdx="1" id="1" initials="" lastIdx="2" name="Anastasiia Chernysh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612FAE-CEC3-4C75-8463-C2C06F3AB0DF}">
  <a:tblStyle styleId="{6E612FAE-CEC3-4C75-8463-C2C06F3AB0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GolosText-bold.fntdata"/><Relationship Id="rId10" Type="http://schemas.openxmlformats.org/officeDocument/2006/relationships/slide" Target="slides/slide3.xml"/><Relationship Id="rId32" Type="http://schemas.openxmlformats.org/officeDocument/2006/relationships/font" Target="fonts/GolosText-regular.fntdata"/><Relationship Id="rId13" Type="http://schemas.openxmlformats.org/officeDocument/2006/relationships/slide" Target="slides/slide6.xml"/><Relationship Id="rId35" Type="http://schemas.openxmlformats.org/officeDocument/2006/relationships/font" Target="fonts/GolosTextSemiBold-bold.fntdata"/><Relationship Id="rId12" Type="http://schemas.openxmlformats.org/officeDocument/2006/relationships/slide" Target="slides/slide5.xml"/><Relationship Id="rId34" Type="http://schemas.openxmlformats.org/officeDocument/2006/relationships/font" Target="fonts/GolosTextSemiBold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9T09:08:48.778">
    <p:pos x="6000" y="0"/>
    <p:text>тут должна быть диаграмма с результатами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Q"/>
      </p:ext>
    </p:extLst>
  </p:cm>
  <p:cm authorId="0" idx="2" dt="2026-05-29T09:08:48.778">
    <p:pos x="6000" y="0"/>
    <p:text>можно одну диаграмму для классификации - одну для регрессии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8SeCPbY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29T09:09:31.818">
    <p:pos x="6000" y="0"/>
    <p:text>табличка для лучшего алгоритма при разных условиях - как влияет добавление новостных данных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c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4-22T18:06:18.143">
    <p:pos x="287" y="655"/>
    <p:text>а почему на правилах, если есть много предобученных моделей?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0"/>
      </p:ext>
    </p:extLst>
  </p:cm>
  <p:cm authorId="1" idx="2" dt="2026-04-22T18:07:34.024">
    <p:pos x="287" y="755"/>
    <p:text>а бустинги не пробовали? типа catboost?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cf2e9a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1cf2e9a2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2e64a61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b32e64a6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b32e64a61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cf2e9a2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1cf2e9a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1cf2e9a2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d50d321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8d50d32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b8d50d3210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8ef052661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8ef05266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8ef052661_1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8ef05266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8ef0526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8ef052661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7ffa3ad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7ffa3a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27ffa3ad3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56f79ab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56f79ab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56f79abe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7ffa3a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27ffa3a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27ffa3ad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27ffa3ad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27ffa3ad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27ffa3ad3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4a6605a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4a6605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4a6605a2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83f8d5ae5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83f8d5a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83f8d5ae5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490387d3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490387d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490387d3b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1cf2e9a2d_0_3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1cf2e9a2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91cf2e9a2d_0_3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27ffa3ad3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27ffa3ad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e27ffa3ad3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3f8d5a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83f8d5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d83f8d5ae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87147586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871475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87147586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8ef05266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8ef0526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b8ef052661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8d50d32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b8d50d321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8ef052661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8ef0526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8ef052661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8ef052661_1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8ef05266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b8ef052661_1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8ef052661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8ef0526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b8ef052661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937c34cd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937c34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937c34c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2" name="Google Shape;62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2" name="Google Shape;72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3" name="Google Shape;73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74" name="Google Shape;74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0" name="Google Shape;80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81" name="Google Shape;81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82" name="Google Shape;82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83" name="Google Shape;83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91" name="Google Shape;91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92" name="Google Shape;92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93" name="Google Shape;93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97" name="Google Shape;97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98" name="Google Shape;98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0" name="Google Shape;11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1" name="Google Shape;151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52" name="Google Shape;152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3" name="Google Shape;153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3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cf2e9a2d_0_14"/>
          <p:cNvSpPr txBox="1"/>
          <p:nvPr>
            <p:ph type="title"/>
          </p:nvPr>
        </p:nvSpPr>
        <p:spPr>
          <a:xfrm>
            <a:off x="759600" y="1895775"/>
            <a:ext cx="76248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Разработка программной системы анализа влияния новостных данных на динамику цен акций российского фондового рынка с применением методов машинного обучения</a:t>
            </a:r>
            <a:endParaRPr sz="2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0" name="Google Shape;160;g391cf2e9a2d_0_14"/>
          <p:cNvSpPr txBox="1"/>
          <p:nvPr/>
        </p:nvSpPr>
        <p:spPr>
          <a:xfrm>
            <a:off x="2319425" y="4038600"/>
            <a:ext cx="6472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Денисов Илья Алексеевич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, К342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руководитель:</a:t>
            </a:r>
            <a:r>
              <a:rPr b="1"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Чернышева Анастасия Вадимовна, ФПИн</a:t>
            </a:r>
            <a:endParaRPr b="0" i="0" sz="15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32e64a61d_0_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Предметная область и решение</a:t>
            </a:r>
            <a:endParaRPr/>
          </a:p>
        </p:txBody>
      </p:sp>
      <p:sp>
        <p:nvSpPr>
          <p:cNvPr id="167" name="Google Shape;167;g3b32e64a61d_0_7"/>
          <p:cNvSpPr/>
          <p:nvPr/>
        </p:nvSpPr>
        <p:spPr>
          <a:xfrm>
            <a:off x="5455200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прогнозирование роста цен по новостям (для топ 50 акций РФ)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российский рынок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открытый код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8" name="Google Shape;168;g3b32e64a61d_0_7"/>
          <p:cNvSpPr/>
          <p:nvPr/>
        </p:nvSpPr>
        <p:spPr>
          <a:xfrm>
            <a:off x="5600400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Решение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3b32e64a61d_0_7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32e64a61d_0_7"/>
          <p:cNvSpPr/>
          <p:nvPr/>
        </p:nvSpPr>
        <p:spPr>
          <a:xfrm>
            <a:off x="681575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новостной шок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рынок акций реагирует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нужен ML, чтобы анализировать большой массив данных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на РФ рынке нет подобных инструментов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g3b32e64a61d_0_7"/>
          <p:cNvSpPr/>
          <p:nvPr/>
        </p:nvSpPr>
        <p:spPr>
          <a:xfrm>
            <a:off x="826775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Предметная область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72" name="Google Shape;172;g3b32e64a61d_0_7"/>
          <p:cNvCxnSpPr>
            <a:stCxn id="170" idx="3"/>
            <a:endCxn id="167" idx="1"/>
          </p:cNvCxnSpPr>
          <p:nvPr/>
        </p:nvCxnSpPr>
        <p:spPr>
          <a:xfrm>
            <a:off x="4065575" y="3360000"/>
            <a:ext cx="1389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cf2e9a2d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179" name="Google Shape;179;g391cf2e9a2d_0_8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g391cf2e9a2d_0_8"/>
          <p:cNvGraphicFramePr/>
          <p:nvPr/>
        </p:nvGraphicFramePr>
        <p:xfrm>
          <a:off x="639700" y="14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1914650"/>
                <a:gridCol w="1368425"/>
                <a:gridCol w="1644375"/>
                <a:gridCol w="1269125"/>
                <a:gridCol w="1668025"/>
              </a:tblGrid>
              <a:tr h="50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Система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Анализ новостей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Прогнозирование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Российский рынок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Открытость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RavenPack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StockPulse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Finam AI-скринер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+- (без прогнозирования)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Разрабатываемая система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d50d3210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87" name="Google Shape;187;g3b8d50d3210_0_8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Цель: </a:t>
            </a:r>
            <a:r>
              <a:rPr lang="ru-RU" sz="1500"/>
              <a:t>разработка модели классификации направления изменения цены российских акции на заданном временном горизонте.</a:t>
            </a:r>
            <a:endParaRPr b="1" sz="1500"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Задачи:</a:t>
            </a:r>
            <a:endParaRPr b="1"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Анализ подходов и решений в области новостного анализа финансовых рынков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Формирование датасета, включающего новостную информацию и исторические котировки акций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Разработка моделей прогнозирования направления цены, учитывающ</a:t>
            </a:r>
            <a:r>
              <a:rPr lang="ru-RU" sz="1500"/>
              <a:t>ей</a:t>
            </a:r>
            <a:r>
              <a:rPr lang="ru-RU" sz="1500"/>
              <a:t> новостной фон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Экспериментальная оценка качества и сравнение моделей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ru-RU" sz="1500"/>
              <a:t>Разработка интерфейса системы </a:t>
            </a:r>
            <a:endParaRPr sz="1500"/>
          </a:p>
        </p:txBody>
      </p:sp>
      <p:sp>
        <p:nvSpPr>
          <p:cNvPr id="188" name="Google Shape;188;g3b8d50d3210_0_8"/>
          <p:cNvSpPr txBox="1"/>
          <p:nvPr/>
        </p:nvSpPr>
        <p:spPr>
          <a:xfrm>
            <a:off x="8784000" y="4725600"/>
            <a:ext cx="337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075" lIns="101075" spcFirstLastPara="1" rIns="101075" wrap="square" tIns="101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 b="0" i="0" sz="15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ef052661_1_7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Архитектура решения</a:t>
            </a:r>
            <a:endParaRPr/>
          </a:p>
        </p:txBody>
      </p:sp>
      <p:sp>
        <p:nvSpPr>
          <p:cNvPr id="195" name="Google Shape;195;g3b8ef052661_1_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5</a:t>
            </a:r>
            <a:endParaRPr/>
          </a:p>
        </p:txBody>
      </p:sp>
      <p:pic>
        <p:nvPicPr>
          <p:cNvPr id="196" name="Google Shape;196;g3b8ef052661_1_71" title="архитектура диплом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144" y="833825"/>
            <a:ext cx="7192655" cy="40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8ef052661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Источники данных</a:t>
            </a:r>
            <a:endParaRPr/>
          </a:p>
        </p:txBody>
      </p:sp>
      <p:sp>
        <p:nvSpPr>
          <p:cNvPr id="203" name="Google Shape;203;g3b8ef052661_0_12"/>
          <p:cNvSpPr txBox="1"/>
          <p:nvPr/>
        </p:nvSpPr>
        <p:spPr>
          <a:xfrm>
            <a:off x="5157000" y="1395675"/>
            <a:ext cx="311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4" name="Google Shape;204;g3b8ef052661_0_12"/>
          <p:cNvSpPr/>
          <p:nvPr/>
        </p:nvSpPr>
        <p:spPr>
          <a:xfrm>
            <a:off x="868800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Источники: MOEX API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Поля</a:t>
            </a: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: {open, high, low, close, volume, datetime}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5" name="Google Shape;205;g3b8ef052661_0_12"/>
          <p:cNvSpPr txBox="1"/>
          <p:nvPr/>
        </p:nvSpPr>
        <p:spPr>
          <a:xfrm>
            <a:off x="868800" y="1394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Котировки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6" name="Google Shape;206;g3b8ef052661_0_12"/>
          <p:cNvSpPr/>
          <p:nvPr/>
        </p:nvSpPr>
        <p:spPr>
          <a:xfrm>
            <a:off x="5234325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Источники: агрегаторы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Поля: {title, content, source, datetime, url}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7" name="Google Shape;207;g3b8ef052661_0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27ffa3ad3_0_2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Структура кода получения данных</a:t>
            </a:r>
            <a:endParaRPr/>
          </a:p>
        </p:txBody>
      </p:sp>
      <p:sp>
        <p:nvSpPr>
          <p:cNvPr id="214" name="Google Shape;214;g3e27ffa3ad3_0_20"/>
          <p:cNvSpPr txBox="1"/>
          <p:nvPr>
            <p:ph idx="1" type="body"/>
          </p:nvPr>
        </p:nvSpPr>
        <p:spPr>
          <a:xfrm>
            <a:off x="6363000" y="1408500"/>
            <a:ext cx="27810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А</a:t>
            </a:r>
            <a:r>
              <a:rPr lang="ru-RU" sz="1600"/>
              <a:t>бстрактный класс BaseNewsParser;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Источники – дочерние классы;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Единый формат записей.</a:t>
            </a:r>
            <a:endParaRPr sz="1600"/>
          </a:p>
        </p:txBody>
      </p:sp>
      <p:pic>
        <p:nvPicPr>
          <p:cNvPr id="215" name="Google Shape;215;g3e27ffa3ad3_0_20" title="классы диплом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00" y="986235"/>
            <a:ext cx="6058200" cy="3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e27ffa3ad3_0_20"/>
          <p:cNvSpPr txBox="1"/>
          <p:nvPr/>
        </p:nvSpPr>
        <p:spPr>
          <a:xfrm>
            <a:off x="6144000" y="4758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56f79abee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Новостные признаки</a:t>
            </a:r>
            <a:endParaRPr/>
          </a:p>
        </p:txBody>
      </p:sp>
      <p:sp>
        <p:nvSpPr>
          <p:cNvPr id="223" name="Google Shape;223;g3e56f79abee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27ffa3ad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230" name="Google Shape;230;g3e27ffa3ad3_0_0"/>
          <p:cNvSpPr txBox="1"/>
          <p:nvPr>
            <p:ph idx="1" type="body"/>
          </p:nvPr>
        </p:nvSpPr>
        <p:spPr>
          <a:xfrm>
            <a:off x="5037800" y="1393400"/>
            <a:ext cx="3776400" cy="294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Разбиение данных: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Обучение: 2020–2023;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Валидация: 2024;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Тест: 2025–2026.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Ал</a:t>
            </a:r>
            <a:r>
              <a:rPr lang="ru-RU" sz="1600"/>
              <a:t>горитмы: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Logistic Regression;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ExtraTrees;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CatBoost;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HistGradientBoosting.</a:t>
            </a:r>
            <a:endParaRPr/>
          </a:p>
        </p:txBody>
      </p:sp>
      <p:sp>
        <p:nvSpPr>
          <p:cNvPr id="231" name="Google Shape;231;g3e27ffa3ad3_0_0"/>
          <p:cNvSpPr/>
          <p:nvPr/>
        </p:nvSpPr>
        <p:spPr>
          <a:xfrm>
            <a:off x="792450" y="1196525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Новости + котировки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2" name="Google Shape;232;g3e27ffa3ad3_0_0"/>
          <p:cNvSpPr/>
          <p:nvPr/>
        </p:nvSpPr>
        <p:spPr>
          <a:xfrm>
            <a:off x="792570" y="2115206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Формирование признаков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8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3" name="Google Shape;233;g3e27ffa3ad3_0_0"/>
          <p:cNvSpPr/>
          <p:nvPr/>
        </p:nvSpPr>
        <p:spPr>
          <a:xfrm>
            <a:off x="792570" y="3033888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Модели классификации и регрессии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4" name="Google Shape;234;g3e27ffa3ad3_0_0"/>
          <p:cNvSpPr/>
          <p:nvPr/>
        </p:nvSpPr>
        <p:spPr>
          <a:xfrm>
            <a:off x="792570" y="3952569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18">
                <a:latin typeface="Golos Text"/>
                <a:ea typeface="Golos Text"/>
                <a:cs typeface="Golos Text"/>
                <a:sym typeface="Golos Text"/>
              </a:rPr>
              <a:t>Метрики качества</a:t>
            </a:r>
            <a:endParaRPr sz="1818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35" name="Google Shape;235;g3e27ffa3ad3_0_0"/>
          <p:cNvCxnSpPr>
            <a:stCxn id="231" idx="2"/>
            <a:endCxn id="232" idx="0"/>
          </p:cNvCxnSpPr>
          <p:nvPr/>
        </p:nvCxnSpPr>
        <p:spPr>
          <a:xfrm>
            <a:off x="2735100" y="1774925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g3e27ffa3ad3_0_0"/>
          <p:cNvCxnSpPr>
            <a:stCxn id="232" idx="2"/>
            <a:endCxn id="233" idx="0"/>
          </p:cNvCxnSpPr>
          <p:nvPr/>
        </p:nvCxnSpPr>
        <p:spPr>
          <a:xfrm>
            <a:off x="2735220" y="2693606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g3e27ffa3ad3_0_0"/>
          <p:cNvCxnSpPr>
            <a:stCxn id="233" idx="2"/>
            <a:endCxn id="234" idx="0"/>
          </p:cNvCxnSpPr>
          <p:nvPr/>
        </p:nvCxnSpPr>
        <p:spPr>
          <a:xfrm>
            <a:off x="2735220" y="3612288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g3e27ffa3ad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27ffa3ad3_0_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sp>
        <p:nvSpPr>
          <p:cNvPr id="245" name="Google Shape;245;g3e27ffa3ad3_0_36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246" name="Google Shape;246;g3e27ffa3ad3_0_36"/>
          <p:cNvGraphicFramePr/>
          <p:nvPr/>
        </p:nvGraphicFramePr>
        <p:xfrm>
          <a:off x="869400" y="13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1766475"/>
                <a:gridCol w="954075"/>
                <a:gridCol w="982050"/>
                <a:gridCol w="1234200"/>
                <a:gridCol w="1299575"/>
                <a:gridCol w="757950"/>
              </a:tblGrid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Модель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ROC-AUC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Precision@5%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Precision@10%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HistGradientBoosting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0.669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0.866	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0.796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0.550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CatBoost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0.875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0.804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0.541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LogReg balanced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0.648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0.524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ExtraTrees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0.660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0.670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0.830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0.796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0.518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a6605a2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Лучший алгоритм</a:t>
            </a:r>
            <a:endParaRPr/>
          </a:p>
        </p:txBody>
      </p:sp>
      <p:sp>
        <p:nvSpPr>
          <p:cNvPr id="253" name="Google Shape;253;g3e4a6605a2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254" name="Google Shape;254;g3e4a6605a23_0_0"/>
          <p:cNvGraphicFramePr/>
          <p:nvPr/>
        </p:nvGraphicFramePr>
        <p:xfrm>
          <a:off x="869400" y="13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1532100"/>
                <a:gridCol w="827475"/>
                <a:gridCol w="827475"/>
                <a:gridCol w="851750"/>
                <a:gridCol w="1070450"/>
                <a:gridCol w="1127150"/>
              </a:tblGrid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Набор признаков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ROC-AUC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Precision@5%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Precision@10%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Только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0.388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0.669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0.866	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0.796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Рынок в момент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0.541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0.875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0.804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Новости+рынок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0.524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0.648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83f8d5ae5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261" name="Google Shape;261;g3d83f8d5ae5_0_12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62" name="Google Shape;262;g3d83f8d5ae5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650" y="932775"/>
            <a:ext cx="55530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490387d3b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269" name="Google Shape;269;g3e490387d3b_0_6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70" name="Google Shape;270;g3e490387d3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00" y="944650"/>
            <a:ext cx="7445350" cy="38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1cf2e9a2d_0_34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77" name="Google Shape;277;g391cf2e9a2d_0_349"/>
          <p:cNvSpPr txBox="1"/>
          <p:nvPr>
            <p:ph idx="1" type="body"/>
          </p:nvPr>
        </p:nvSpPr>
        <p:spPr>
          <a:xfrm>
            <a:off x="609774" y="12104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Результаты: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разработана архитектура системы;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собрано более 600 тысяч строк данных котировок и более 200 тысяч строк данных новостей;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лучшая модель HGBoosting: ROC-AUC = 0.67, Precision@5% = 0.87;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создан пользовательский интерфейс.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Дальнейшие шаги: </a:t>
            </a:r>
            <a:r>
              <a:rPr lang="ru-RU" sz="1600"/>
              <a:t>расширение и повышение качества набора новостных данных; тестирование нейросетевых моделей. </a:t>
            </a:r>
            <a:endParaRPr sz="1600"/>
          </a:p>
        </p:txBody>
      </p:sp>
      <p:sp>
        <p:nvSpPr>
          <p:cNvPr id="278" name="Google Shape;278;g391cf2e9a2d_0_3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457200" y="2261388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Контакты: denisovila328@gmail.com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Денисов Илья Алексеевич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</p:txBody>
      </p:sp>
      <p:sp>
        <p:nvSpPr>
          <p:cNvPr id="284" name="Google Shape;284;p12"/>
          <p:cNvSpPr txBox="1"/>
          <p:nvPr/>
        </p:nvSpPr>
        <p:spPr>
          <a:xfrm>
            <a:off x="6880123" y="4468762"/>
            <a:ext cx="19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27ffa3ad3_0_4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291" name="Google Shape;291;g3e27ffa3ad3_0_43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27ffa3ad3_0_43"/>
          <p:cNvSpPr/>
          <p:nvPr/>
        </p:nvSpPr>
        <p:spPr>
          <a:xfrm>
            <a:off x="457200" y="938000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Finam AI-скринер, T-Инвестиции</a:t>
            </a:r>
            <a:endParaRPr b="0"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3" name="Google Shape;293;g3e27ffa3ad3_0_43"/>
          <p:cNvSpPr/>
          <p:nvPr/>
        </p:nvSpPr>
        <p:spPr>
          <a:xfrm>
            <a:off x="547600" y="2557475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RavenPack, Stockpulse, arya.ai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4" name="Google Shape;294;g3e27ffa3ad3_0_43"/>
          <p:cNvSpPr/>
          <p:nvPr/>
        </p:nvSpPr>
        <p:spPr>
          <a:xfrm>
            <a:off x="4874725" y="1133975"/>
            <a:ext cx="3732300" cy="95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30000" spcFirstLastPara="1" rIns="91425" wrap="square" tIns="91425">
            <a:noAutofit/>
          </a:bodyPr>
          <a:lstStyle/>
          <a:p>
            <a:pPr indent="-3619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 • нет прогноза цен по новостям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5" name="Google Shape;295;g3e27ffa3ad3_0_43"/>
          <p:cNvSpPr/>
          <p:nvPr/>
        </p:nvSpPr>
        <p:spPr>
          <a:xfrm>
            <a:off x="4619575" y="2708225"/>
            <a:ext cx="3818700" cy="12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высокая стоимость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 для российского рынка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96" name="Google Shape;296;g3e27ffa3ad3_0_43"/>
          <p:cNvCxnSpPr>
            <a:stCxn id="292" idx="3"/>
            <a:endCxn id="294" idx="1"/>
          </p:cNvCxnSpPr>
          <p:nvPr/>
        </p:nvCxnSpPr>
        <p:spPr>
          <a:xfrm flipH="1" rot="10800000">
            <a:off x="2900100" y="1609550"/>
            <a:ext cx="1974600" cy="8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g3e27ffa3ad3_0_43"/>
          <p:cNvCxnSpPr/>
          <p:nvPr/>
        </p:nvCxnSpPr>
        <p:spPr>
          <a:xfrm flipH="1" rot="10800000">
            <a:off x="2990500" y="3282275"/>
            <a:ext cx="1629000" cy="6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83f8d5ae5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graphicFrame>
        <p:nvGraphicFramePr>
          <p:cNvPr id="304" name="Google Shape;304;g3d83f8d5ae5_0_0"/>
          <p:cNvGraphicFramePr/>
          <p:nvPr/>
        </p:nvGraphicFramePr>
        <p:xfrm>
          <a:off x="1709613" y="128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{6E612FAE-CEC3-4C75-8463-C2C06F3AB0DF}</a:tableStyleId>
              </a:tblPr>
              <a:tblGrid>
                <a:gridCol w="2563625"/>
                <a:gridCol w="1128250"/>
                <a:gridCol w="1128250"/>
                <a:gridCol w="1128250"/>
              </a:tblGrid>
              <a:tr h="5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Эксперимент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precision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recall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F1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Базовая модель,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 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0.17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0.24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0.49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(на правилах)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(ruBERT)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0.76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g3d83f8d5ae5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871475868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312" name="Google Shape;312;g3d871475868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базовый алгоритм - </a:t>
            </a:r>
            <a:r>
              <a:rPr lang="ru-RU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Random Forest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сентимент</a:t>
            </a:r>
            <a:r>
              <a:rPr lang="ru-RU"/>
              <a:t> - на правилах, ruBERT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гиперпараметры: окно агрегации новостей, горизонт прогнозирования, выбор данных для обучения (только рынок/рынок+новости)</a:t>
            </a:r>
            <a:endParaRPr/>
          </a:p>
        </p:txBody>
      </p:sp>
      <p:sp>
        <p:nvSpPr>
          <p:cNvPr id="313" name="Google Shape;313;g3d871475868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8ef052661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Постановка ML задачи</a:t>
            </a:r>
            <a:endParaRPr/>
          </a:p>
        </p:txBody>
      </p:sp>
      <p:sp>
        <p:nvSpPr>
          <p:cNvPr id="320" name="Google Shape;320;g3b8ef052661_0_6"/>
          <p:cNvSpPr/>
          <p:nvPr/>
        </p:nvSpPr>
        <p:spPr>
          <a:xfrm>
            <a:off x="1212390" y="2272823"/>
            <a:ext cx="2224500" cy="137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Новости,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Котировки акций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1" name="Google Shape;321;g3b8ef052661_0_6"/>
          <p:cNvSpPr/>
          <p:nvPr/>
        </p:nvSpPr>
        <p:spPr>
          <a:xfrm>
            <a:off x="5601800" y="2272825"/>
            <a:ext cx="2329800" cy="137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Рост/не рост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(вероятность роста)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22" name="Google Shape;322;g3b8ef052661_0_6"/>
          <p:cNvCxnSpPr>
            <a:stCxn id="320" idx="3"/>
            <a:endCxn id="321" idx="1"/>
          </p:cNvCxnSpPr>
          <p:nvPr/>
        </p:nvCxnSpPr>
        <p:spPr>
          <a:xfrm>
            <a:off x="3436890" y="2962673"/>
            <a:ext cx="2164800" cy="0"/>
          </a:xfrm>
          <a:prstGeom prst="straightConnector1">
            <a:avLst/>
          </a:prstGeom>
          <a:noFill/>
          <a:ln cap="flat" cmpd="sng" w="347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" name="Google Shape;323;g3b8ef052661_0_6"/>
          <p:cNvSpPr txBox="1"/>
          <p:nvPr/>
        </p:nvSpPr>
        <p:spPr>
          <a:xfrm>
            <a:off x="1727856" y="1544015"/>
            <a:ext cx="11934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50" lIns="83250" spcFirstLastPara="1" rIns="83250" wrap="square" tIns="83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4" name="Google Shape;324;g3b8ef052661_0_6"/>
          <p:cNvSpPr/>
          <p:nvPr/>
        </p:nvSpPr>
        <p:spPr>
          <a:xfrm>
            <a:off x="1727867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5" name="Google Shape;325;g3b8ef052661_0_6"/>
          <p:cNvSpPr/>
          <p:nvPr/>
        </p:nvSpPr>
        <p:spPr>
          <a:xfrm>
            <a:off x="6117278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Выход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6" name="Google Shape;326;g3b8ef052661_0_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8d50d3210_0_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332" name="Google Shape;332;g3b8d50d3210_0_1"/>
          <p:cNvSpPr txBox="1"/>
          <p:nvPr/>
        </p:nvSpPr>
        <p:spPr>
          <a:xfrm>
            <a:off x="457200" y="1196550"/>
            <a:ext cx="7418400" cy="3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Ручной анализ новостей становится неэффективным из-за объёмов и скорости информации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Методы NLP и ML позволяют автоматизировать обработку текстов и выявлять скрытые закономерности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Требуется разработка открытого и специализированного решения для российского фондового рынка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3" name="Google Shape;333;g3b8d50d3210_0_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8ef052661_0_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Предобработка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g3b8ef052661_0_18"/>
          <p:cNvSpPr txBox="1"/>
          <p:nvPr>
            <p:ph idx="1" type="body"/>
          </p:nvPr>
        </p:nvSpPr>
        <p:spPr>
          <a:xfrm>
            <a:off x="508000" y="1792275"/>
            <a:ext cx="3635700" cy="317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удаление дубликатов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фильтрация по компаниям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токенизация, </a:t>
            </a:r>
            <a:r>
              <a:rPr lang="ru-RU" sz="1600"/>
              <a:t>лемматизация </a:t>
            </a:r>
            <a:endParaRPr sz="1600"/>
          </a:p>
        </p:txBody>
      </p:sp>
      <p:sp>
        <p:nvSpPr>
          <p:cNvPr id="341" name="Google Shape;341;g3b8ef052661_0_1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новостей</a:t>
            </a:r>
            <a:endParaRPr sz="2000" u="none"/>
          </a:p>
        </p:txBody>
      </p:sp>
      <p:sp>
        <p:nvSpPr>
          <p:cNvPr id="342" name="Google Shape;342;g3b8ef052661_0_18"/>
          <p:cNvSpPr txBox="1"/>
          <p:nvPr>
            <p:ph idx="3" type="body"/>
          </p:nvPr>
        </p:nvSpPr>
        <p:spPr>
          <a:xfrm>
            <a:off x="4970050" y="1792275"/>
            <a:ext cx="3887700" cy="18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проверка пропусков и выравнивание по датам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сглаживание и очистка выбросов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</p:txBody>
      </p:sp>
      <p:sp>
        <p:nvSpPr>
          <p:cNvPr id="343" name="Google Shape;343;g3b8ef052661_0_18"/>
          <p:cNvSpPr txBox="1"/>
          <p:nvPr>
            <p:ph idx="4" type="body"/>
          </p:nvPr>
        </p:nvSpPr>
        <p:spPr>
          <a:xfrm>
            <a:off x="4970046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котировок</a:t>
            </a:r>
            <a:endParaRPr sz="2000" u="none"/>
          </a:p>
        </p:txBody>
      </p:sp>
      <p:sp>
        <p:nvSpPr>
          <p:cNvPr id="344" name="Google Shape;344;g3b8ef052661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8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8ef052661_1_1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Границы исследования</a:t>
            </a:r>
            <a:endParaRPr/>
          </a:p>
        </p:txBody>
      </p:sp>
      <p:sp>
        <p:nvSpPr>
          <p:cNvPr id="351" name="Google Shape;351;g3b8ef052661_1_1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Объект исследования: акции российских компаний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Горизонт прогноза: T+1 день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Реакция рынка: задержка 1–3 дня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Источники данных: GNews / MOEX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Не рассматривается: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инсайдерская информация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прогнозирование на больших горизонтах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макроэкономические индикаторы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социальные сети / twitter / sentiment трейдинг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8ef052661_0_2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Итоговый датасет</a:t>
            </a:r>
            <a:endParaRPr/>
          </a:p>
        </p:txBody>
      </p:sp>
      <p:sp>
        <p:nvSpPr>
          <p:cNvPr id="358" name="Google Shape;358;g3b8ef052661_0_24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/>
              <a:t>Процедура: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новостей к тикеру компании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времени публикации к торговому дню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Выбор окна реакции рынка (1–3 дня)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Формирование обучающих признаков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Подготовка целевой переменной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g3b8ef052661_0_24"/>
          <p:cNvPicPr preferRelativeResize="0"/>
          <p:nvPr/>
        </p:nvPicPr>
        <p:blipFill rotWithShape="1">
          <a:blip r:embed="rId3">
            <a:alphaModFix/>
          </a:blip>
          <a:srcRect b="35860" l="0" r="0" t="27384"/>
          <a:stretch/>
        </p:blipFill>
        <p:spPr>
          <a:xfrm>
            <a:off x="714375" y="2764275"/>
            <a:ext cx="7715251" cy="18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937c34cdc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Выбор модели</a:t>
            </a:r>
            <a:endParaRPr/>
          </a:p>
        </p:txBody>
      </p:sp>
      <p:sp>
        <p:nvSpPr>
          <p:cNvPr id="366" name="Google Shape;366;g3b937c34cdc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g3b937c34cd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699" y="874350"/>
            <a:ext cx="6870200" cy="40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