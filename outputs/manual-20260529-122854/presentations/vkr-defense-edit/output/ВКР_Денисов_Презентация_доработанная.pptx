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Golos Text"/>
      <p:regular r:id="rId32"/>
      <p:bold r:id="rId33"/>
    </p:embeddedFont>
    <p:embeddedFont>
      <p:font typeface="Golos Text SemiBold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gz1ukYvvoWH0psUmm6bPUYEe97G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Денисов Илья"/>
  <p:cmAuthor clrIdx="1" id="1" initials="" lastIdx="2" name="Anastasiia Chernyshev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612FAE-CEC3-4C75-8463-C2C06F3AB0DF}">
  <a:tblStyle styleId="{6E612FAE-CEC3-4C75-8463-C2C06F3AB0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GolosText-bold.fntdata"/><Relationship Id="rId10" Type="http://schemas.openxmlformats.org/officeDocument/2006/relationships/slide" Target="slides/slide3.xml"/><Relationship Id="rId32" Type="http://schemas.openxmlformats.org/officeDocument/2006/relationships/font" Target="fonts/GolosText-regular.fntdata"/><Relationship Id="rId13" Type="http://schemas.openxmlformats.org/officeDocument/2006/relationships/slide" Target="slides/slide6.xml"/><Relationship Id="rId35" Type="http://schemas.openxmlformats.org/officeDocument/2006/relationships/font" Target="fonts/GolosTextSemiBold-bold.fntdata"/><Relationship Id="rId12" Type="http://schemas.openxmlformats.org/officeDocument/2006/relationships/slide" Target="slides/slide5.xml"/><Relationship Id="rId34" Type="http://schemas.openxmlformats.org/officeDocument/2006/relationships/font" Target="fonts/GolosTextSemiBold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customschemas.google.com/relationships/presentationmetadata" Target="meta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29T09:08:48.778">
    <p:pos x="6000" y="0"/>
    <p:text>тут должна быть диаграмма с результатами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SeCPbQ"/>
      </p:ext>
    </p:extLst>
  </p:cm>
  <p:cm authorId="0" idx="2" dt="2026-05-29T09:08:48.778">
    <p:pos x="6000" y="0"/>
    <p:text>можно одну диаграмму для классификации - одну для регрессии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8SeCPbY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5-29T09:09:31.818">
    <p:pos x="6000" y="0"/>
    <p:text>табличка для лучшего алгоритма при разных условиях - как влияет добавление новостных данных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SeCPbc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4-22T18:06:18.143">
    <p:pos x="287" y="655"/>
    <p:text>а почему на правилах, если есть много предобученных моделей?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3_NzCd0"/>
      </p:ext>
    </p:extLst>
  </p:cm>
  <p:cm authorId="1" idx="2" dt="2026-04-22T18:07:34.024">
    <p:pos x="287" y="755"/>
    <p:text>а бустинги не пробовали? типа catboost?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3_NzCd8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1cf2e9a2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91cf2e9a2d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32e64a61d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b32e64a61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b32e64a61d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1cf2e9a2d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91cf2e9a2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91cf2e9a2d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8d50d3210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b8d50d321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b8d50d3210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8ef052661_1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8ef052661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b8ef052661_1_7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8ef052661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8ef05266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b8ef052661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27ffa3ad3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27ffa3ad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e27ffa3ad3_0_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56f79abe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56f79ab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e56f79abee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27ffa3ad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27ffa3a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e27ffa3ad3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27ffa3ad3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e27ffa3ad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e27ffa3ad3_0_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4a6605a2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e4a6605a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4a6605a23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83f8d5ae5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83f8d5ae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d83f8d5ae5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490387d3b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e490387d3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e490387d3b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1cf2e9a2d_0_3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91cf2e9a2d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91cf2e9a2d_0_3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27ffa3ad3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e27ffa3ad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e27ffa3ad3_0_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83f8d5ae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d83f8d5a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d83f8d5ae5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87147586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d8714758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d871475868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8ef052661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b8ef05266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b8ef052661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8d50d321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g3b8d50d3210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8ef052661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b8ef05266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b8ef052661_0_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8ef052661_1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b8ef052661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b8ef052661_1_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8ef052661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b8ef05266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b8ef052661_0_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937c34cd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b937c34c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b937c34cdc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37" name="Google Shape;37;p1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62" name="Google Shape;62;p2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63" name="Google Shape;63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5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9" name="Google Shape;69;p25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0" name="Google Shape;70;p2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2" name="Google Shape;72;p25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73" name="Google Shape;73;p25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74" name="Google Shape;74;p25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  <p:sp>
        <p:nvSpPr>
          <p:cNvPr id="75" name="Google Shape;7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6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80" name="Google Shape;80;p26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81" name="Google Shape;81;p26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82" name="Google Shape;82;p26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83" name="Google Shape;83;p26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  <p:sp>
        <p:nvSpPr>
          <p:cNvPr id="84" name="Google Shape;8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7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7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7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91" name="Google Shape;91;p27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92" name="Google Shape;92;p27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93" name="Google Shape;93;p27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7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97" name="Google Shape;97;p27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98" name="Google Shape;98;p27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  <p:sp>
        <p:nvSpPr>
          <p:cNvPr id="99" name="Google Shape;99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0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0" name="Google Shape;110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1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3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2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118" name="Google Shape;118;p32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3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3" name="Google Shape;123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34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4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5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134" name="Google Shape;134;p35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6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9" name="Google Shape;139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7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37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37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37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8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38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51" name="Google Shape;151;p38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52" name="Google Shape;152;p38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53" name="Google Shape;153;p38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54" name="Google Shape;15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3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1cf2e9a2d_0_14"/>
          <p:cNvSpPr txBox="1"/>
          <p:nvPr>
            <p:ph type="title"/>
          </p:nvPr>
        </p:nvSpPr>
        <p:spPr>
          <a:xfrm>
            <a:off x="759600" y="1895775"/>
            <a:ext cx="7624800" cy="16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5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Разработка программной системы анализа влияния новостных данных на динамику цен акций российского фондового рынка с применением методов машинного обучения</a:t>
            </a:r>
            <a:endParaRPr sz="25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0" name="Google Shape;160;g391cf2e9a2d_0_14"/>
          <p:cNvSpPr txBox="1"/>
          <p:nvPr/>
        </p:nvSpPr>
        <p:spPr>
          <a:xfrm>
            <a:off x="2319425" y="4038600"/>
            <a:ext cx="64728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Студент:</a:t>
            </a:r>
            <a:r>
              <a:rPr b="0" i="0" lang="ru-RU" sz="15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ru-RU" sz="15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Денисов Илья Алексеевич</a:t>
            </a:r>
            <a:r>
              <a:rPr b="0" i="0" lang="ru-RU" sz="15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, К342</a:t>
            </a:r>
            <a:r>
              <a:rPr lang="ru-RU" sz="15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sz="15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Научный руководитель:</a:t>
            </a:r>
            <a:r>
              <a:rPr b="1" lang="ru-RU" sz="15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ru-RU" sz="15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Чернышева Анастасия Вадимовна, ФПИн</a:t>
            </a:r>
            <a:endParaRPr b="0" i="0" sz="15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32e64a61d_0_7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Предметная область и решение</a:t>
            </a:r>
            <a:endParaRPr/>
          </a:p>
        </p:txBody>
      </p:sp>
      <p:sp>
        <p:nvSpPr>
          <p:cNvPr id="167" name="Google Shape;167;g3b32e64a61d_0_7"/>
          <p:cNvSpPr/>
          <p:nvPr/>
        </p:nvSpPr>
        <p:spPr>
          <a:xfrm>
            <a:off x="5455200" y="1976700"/>
            <a:ext cx="3384000" cy="2766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прогнозирование роста цен по новостям (для топ 50 акций РФ)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российский рынок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открытый код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8" name="Google Shape;168;g3b32e64a61d_0_7"/>
          <p:cNvSpPr/>
          <p:nvPr/>
        </p:nvSpPr>
        <p:spPr>
          <a:xfrm>
            <a:off x="5600400" y="1031013"/>
            <a:ext cx="3093600" cy="74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-RU" sz="2000">
                <a:latin typeface="Golos Text"/>
                <a:ea typeface="Golos Text"/>
                <a:cs typeface="Golos Text"/>
                <a:sym typeface="Golos Text"/>
              </a:rPr>
              <a:t>Решение</a:t>
            </a:r>
            <a:endParaRPr i="0" sz="20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9" name="Google Shape;169;g3b32e64a61d_0_7"/>
          <p:cNvSpPr txBox="1"/>
          <p:nvPr/>
        </p:nvSpPr>
        <p:spPr>
          <a:xfrm>
            <a:off x="8839200" y="4743300"/>
            <a:ext cx="30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b32e64a61d_0_7"/>
          <p:cNvSpPr/>
          <p:nvPr/>
        </p:nvSpPr>
        <p:spPr>
          <a:xfrm>
            <a:off x="681575" y="1976700"/>
            <a:ext cx="3384000" cy="27666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новостной шок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рынок акций реагирует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нужен ML, чтобы анализировать большой массив данных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на РФ рынке нет подобных инструментов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1" name="Google Shape;171;g3b32e64a61d_0_7"/>
          <p:cNvSpPr/>
          <p:nvPr/>
        </p:nvSpPr>
        <p:spPr>
          <a:xfrm>
            <a:off x="826775" y="1031013"/>
            <a:ext cx="3093600" cy="74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-RU" sz="2000">
                <a:latin typeface="Golos Text"/>
                <a:ea typeface="Golos Text"/>
                <a:cs typeface="Golos Text"/>
                <a:sym typeface="Golos Text"/>
              </a:rPr>
              <a:t>Предметная область</a:t>
            </a:r>
            <a:endParaRPr i="0" sz="20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172" name="Google Shape;172;g3b32e64a61d_0_7"/>
          <p:cNvCxnSpPr>
            <a:stCxn id="170" idx="3"/>
            <a:endCxn id="167" idx="1"/>
          </p:cNvCxnSpPr>
          <p:nvPr/>
        </p:nvCxnSpPr>
        <p:spPr>
          <a:xfrm>
            <a:off x="4065575" y="3360000"/>
            <a:ext cx="13896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1cf2e9a2d_0_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Аналоги</a:t>
            </a:r>
            <a:endParaRPr/>
          </a:p>
        </p:txBody>
      </p:sp>
      <p:sp>
        <p:nvSpPr>
          <p:cNvPr id="179" name="Google Shape;179;g391cf2e9a2d_0_8"/>
          <p:cNvSpPr txBox="1"/>
          <p:nvPr/>
        </p:nvSpPr>
        <p:spPr>
          <a:xfrm>
            <a:off x="8839200" y="4743300"/>
            <a:ext cx="30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0" name="Google Shape;180;g391cf2e9a2d_0_8"/>
          <p:cNvGraphicFramePr/>
          <p:nvPr/>
        </p:nvGraphicFramePr>
        <p:xfrm>
          <a:off x="639700" y="1460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{6E612FAE-CEC3-4C75-8463-C2C06F3AB0DF}</a:tableStyleId>
              </a:tblPr>
              <a:tblGrid>
                <a:gridCol w="1914650"/>
                <a:gridCol w="1368425"/>
                <a:gridCol w="1644375"/>
                <a:gridCol w="1269125"/>
                <a:gridCol w="1668025"/>
              </a:tblGrid>
              <a:tr h="50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Система</a:t>
                      </a:r>
                      <a:endParaRPr b="1"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Анализ новостей</a:t>
                      </a:r>
                      <a:endParaRPr b="1"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Прогнозирование</a:t>
                      </a:r>
                      <a:endParaRPr b="1"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Российский рынок</a:t>
                      </a:r>
                      <a:endParaRPr b="1"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Открытость</a:t>
                      </a:r>
                      <a:endParaRPr b="1"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RavenPack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-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Закрытая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StockPulse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-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Закрытая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Finam AI-скринер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+- (без прогнозирования)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Закрытая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Разрабатываемая система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Открытая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8d50d3210_0_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Цель и задачи</a:t>
            </a:r>
            <a:endParaRPr/>
          </a:p>
        </p:txBody>
      </p:sp>
      <p:sp>
        <p:nvSpPr>
          <p:cNvPr id="187" name="Google Shape;187;g3b8d50d3210_0_8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0" indent="0" spcAft="420">
              <a:buNone/>
            </a:pPr>
            <a:r>
              <a:rPr lang="ru-RU" sz="1500" b="1">
                <a:solidFill>
                  <a:srgbClr val="222222"/>
                </a:solidFill>
                <a:latin typeface="Arial"/>
                <a:cs typeface="Arial"/>
              </a:rPr>
              <a:t>Цель: разработать программную систему для анализа связи между новостными данными и краткосрочной динамикой цен акций российского фондового рынка.</a:t>
            </a:r>
          </a:p>
          <a:p>
            <a:pPr marL="0" indent="0" spcAft="170">
              <a:buNone/>
            </a:pPr>
            <a:r>
              <a:rPr lang="ru-RU" sz="1500" b="1">
                <a:solidFill>
                  <a:srgbClr val="222222"/>
                </a:solidFill>
                <a:latin typeface="Arial"/>
                <a:cs typeface="Arial"/>
              </a:rPr>
              <a:t>Задачи:</a:t>
            </a:r>
          </a:p>
          <a:p>
            <a:pPr marL="260000" indent="-160000" spcAft="300">
              <a:buChar char="•"/>
            </a:pPr>
            <a:r>
              <a:rPr lang="ru-RU" sz="1400">
                <a:solidFill>
                  <a:srgbClr val="222222"/>
                </a:solidFill>
                <a:latin typeface="Arial"/>
                <a:cs typeface="Arial"/>
              </a:rPr>
              <a:t>проанализировать подходы к новостному анализу финансовых рынков;</a:t>
            </a:r>
          </a:p>
          <a:p>
            <a:pPr marL="260000" indent="-160000" spcAft="300">
              <a:buChar char="•"/>
            </a:pPr>
            <a:r>
              <a:rPr lang="ru-RU" sz="1400">
                <a:solidFill>
                  <a:srgbClr val="222222"/>
                </a:solidFill>
                <a:latin typeface="Arial"/>
                <a:cs typeface="Arial"/>
              </a:rPr>
              <a:t>сформировать датасет из новостей и исторических котировок MOEX;</a:t>
            </a:r>
          </a:p>
          <a:p>
            <a:pPr marL="260000" indent="-160000" spcAft="300">
              <a:buChar char="•"/>
            </a:pPr>
            <a:r>
              <a:rPr lang="ru-RU" sz="1400">
                <a:solidFill>
                  <a:srgbClr val="222222"/>
                </a:solidFill>
                <a:latin typeface="Arial"/>
                <a:cs typeface="Arial"/>
              </a:rPr>
              <a:t>выделить рыночные, новостные и текстовые признаки;</a:t>
            </a:r>
          </a:p>
          <a:p>
            <a:pPr marL="260000" indent="-160000" spcAft="300">
              <a:buChar char="•"/>
            </a:pPr>
            <a:r>
              <a:rPr lang="ru-RU" sz="1400">
                <a:solidFill>
                  <a:srgbClr val="222222"/>
                </a:solidFill>
                <a:latin typeface="Arial"/>
                <a:cs typeface="Arial"/>
              </a:rPr>
              <a:t>обучить и сравнить модели для задач «События 24ч» и «Доходность 24ч»;</a:t>
            </a:r>
          </a:p>
          <a:p>
            <a:pPr marL="260000" indent="-160000" spcAft="300">
              <a:buChar char="•"/>
            </a:pPr>
            <a:r>
              <a:rPr lang="ru-RU" sz="1400">
                <a:solidFill>
                  <a:srgbClr val="222222"/>
                </a:solidFill>
                <a:latin typeface="Arial"/>
                <a:cs typeface="Arial"/>
              </a:rPr>
              <a:t>реализовать интерфейс для визуализации новостей, котировок и сигналов моделей.</a:t>
            </a:r>
          </a:p>
        </p:txBody>
      </p:sp>
      <p:sp>
        <p:nvSpPr>
          <p:cNvPr id="188" name="Google Shape;188;g3b8d50d3210_0_8"/>
          <p:cNvSpPr txBox="1"/>
          <p:nvPr/>
        </p:nvSpPr>
        <p:spPr>
          <a:xfrm>
            <a:off x="8784000" y="4725600"/>
            <a:ext cx="337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075" lIns="101075" spcFirstLastPara="1" rIns="101075" wrap="square" tIns="101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 b="0" i="0" sz="15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8ef052661_1_7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Архитектура решения</a:t>
            </a:r>
            <a:endParaRPr/>
          </a:p>
        </p:txBody>
      </p:sp>
      <p:sp>
        <p:nvSpPr>
          <p:cNvPr id="195" name="Google Shape;195;g3b8ef052661_1_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5</a:t>
            </a:r>
            <a:endParaRPr/>
          </a:p>
        </p:txBody>
      </p:sp>
      <p:pic>
        <p:nvPicPr>
          <p:cNvPr id="196" name="Google Shape;196;g3b8ef052661_1_71" title="архитектура диплом.drawio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144" y="833825"/>
            <a:ext cx="7192655" cy="40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8ef052661_0_1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Источники данных</a:t>
            </a:r>
            <a:endParaRPr/>
          </a:p>
        </p:txBody>
      </p:sp>
      <p:sp>
        <p:nvSpPr>
          <p:cNvPr id="203" name="Google Shape;203;g3b8ef052661_0_12"/>
          <p:cNvSpPr txBox="1"/>
          <p:nvPr/>
        </p:nvSpPr>
        <p:spPr>
          <a:xfrm>
            <a:off x="5157000" y="1395675"/>
            <a:ext cx="311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Новости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4" name="Google Shape;204;g3b8ef052661_0_12"/>
          <p:cNvSpPr/>
          <p:nvPr/>
        </p:nvSpPr>
        <p:spPr>
          <a:xfrm>
            <a:off x="868800" y="1886625"/>
            <a:ext cx="3000000" cy="2031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1600">
                <a:latin typeface="Golos Text"/>
                <a:ea typeface="Golos Text"/>
                <a:cs typeface="Golos Text"/>
                <a:sym typeface="Golos Text"/>
              </a:rPr>
              <a:t>Источники: MOEX API</a:t>
            </a:r>
            <a:endParaRPr sz="16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1600">
                <a:latin typeface="Golos Text"/>
                <a:ea typeface="Golos Text"/>
                <a:cs typeface="Golos Text"/>
                <a:sym typeface="Golos Text"/>
              </a:rPr>
              <a:t>Поля</a:t>
            </a:r>
            <a:r>
              <a:rPr lang="ru-RU" sz="1600">
                <a:latin typeface="Golos Text"/>
                <a:ea typeface="Golos Text"/>
                <a:cs typeface="Golos Text"/>
                <a:sym typeface="Golos Text"/>
              </a:rPr>
              <a:t>: {open, high, low, close, volume, datetime}</a:t>
            </a:r>
            <a:endParaRPr sz="16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1600">
                <a:latin typeface="Golos Text"/>
                <a:ea typeface="Golos Text"/>
                <a:cs typeface="Golos Text"/>
                <a:sym typeface="Golos Text"/>
              </a:rPr>
              <a:t>Частота: часовая (1h)</a:t>
            </a:r>
            <a:endParaRPr sz="16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5" name="Google Shape;205;g3b8ef052661_0_12"/>
          <p:cNvSpPr txBox="1"/>
          <p:nvPr/>
        </p:nvSpPr>
        <p:spPr>
          <a:xfrm>
            <a:off x="868800" y="1394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Котировки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6" name="Google Shape;206;g3b8ef052661_0_12"/>
          <p:cNvSpPr/>
          <p:nvPr/>
        </p:nvSpPr>
        <p:spPr>
          <a:xfrm>
            <a:off x="5234325" y="1886625"/>
            <a:ext cx="3000000" cy="2031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Источники: агрегаторы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Поля: {title, content, source, datetime, url}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Частота: часовая (1h)</a:t>
            </a:r>
            <a:endParaRPr sz="16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7" name="Google Shape;207;g3b8ef052661_0_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27ffa3ad3_0_2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Структура кода получения данных</a:t>
            </a:r>
            <a:endParaRPr/>
          </a:p>
        </p:txBody>
      </p:sp>
      <p:sp>
        <p:nvSpPr>
          <p:cNvPr id="214" name="Google Shape;214;g3e27ffa3ad3_0_20"/>
          <p:cNvSpPr txBox="1"/>
          <p:nvPr>
            <p:ph idx="1" type="body"/>
          </p:nvPr>
        </p:nvSpPr>
        <p:spPr>
          <a:xfrm>
            <a:off x="6363000" y="1408500"/>
            <a:ext cx="2781000" cy="37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А</a:t>
            </a:r>
            <a:r>
              <a:rPr lang="ru-RU" sz="1600"/>
              <a:t>бстрактный класс BaseNewsParser;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Источники – дочерние классы;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Единый формат записей.</a:t>
            </a:r>
            <a:endParaRPr sz="1600"/>
          </a:p>
        </p:txBody>
      </p:sp>
      <p:pic>
        <p:nvPicPr>
          <p:cNvPr id="215" name="Google Shape;215;g3e27ffa3ad3_0_20" title="классы диплом.drawio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00" y="986235"/>
            <a:ext cx="6058200" cy="349316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e27ffa3ad3_0_20"/>
          <p:cNvSpPr txBox="1"/>
          <p:nvPr/>
        </p:nvSpPr>
        <p:spPr>
          <a:xfrm>
            <a:off x="6144000" y="47586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56f79abee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Новостные признаки</a:t>
            </a:r>
            <a:endParaRPr/>
          </a:p>
        </p:txBody>
      </p:sp>
      <p:sp>
        <p:nvSpPr>
          <p:cNvPr id="223" name="Google Shape;223;g3e56f79abee_0_0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feature card"/>
          <p:cNvSpPr txBox="1"/>
          <p:nvPr/>
        </p:nvSpPr>
        <p:spPr>
          <a:xfrm>
            <a:off x="502920" y="1078992"/>
            <a:ext cx="2606040" cy="2240280"/>
          </a:xfrm>
          <a:prstGeom prst="roundRect">
            <a:avLst/>
          </a:prstGeom>
          <a:solidFill>
            <a:srgbClr val="EAF2FF"/>
          </a:solidFill>
          <a:ln w="10000">
            <a:solidFill>
              <a:srgbClr val="D6DEE8"/>
            </a:solidFill>
          </a:ln>
        </p:spPr>
        <p:txBody>
          <a:bodyPr wrap="square" lIns="109728" rIns="109728" tIns="109728" bIns="109728"/>
          <a:lstStyle/>
          <a:p>
            <a:pPr marL="0" indent="0" spcAft="250">
              <a:buNone/>
            </a:pPr>
            <a:r>
              <a:rPr lang="ru-RU" sz="1200" b="1">
                <a:solidFill>
                  <a:srgbClr val="2E75B6"/>
                </a:solidFill>
                <a:latin typeface="Arial"/>
                <a:cs typeface="Arial"/>
              </a:rPr>
              <a:t>Интенсивность потока</a:t>
            </a:r>
          </a:p>
          <a:p>
            <a:pPr marL="260000" indent="-160000" spcAft="170">
              <a:buChar char="•"/>
            </a:pPr>
            <a:r>
              <a:rPr lang="ru-RU" sz="1000">
                <a:solidFill>
                  <a:srgbClr val="222222"/>
                </a:solidFill>
                <a:latin typeface="Arial"/>
                <a:cs typeface="Arial"/>
              </a:rPr>
              <a:t>количество новостей за час</a:t>
            </a:r>
          </a:p>
          <a:p>
            <a:pPr marL="260000" indent="-160000" spcAft="170">
              <a:buChar char="•"/>
            </a:pPr>
            <a:r>
              <a:rPr lang="ru-RU" sz="1000">
                <a:solidFill>
                  <a:srgbClr val="222222"/>
                </a:solidFill>
                <a:latin typeface="Arial"/>
                <a:cs typeface="Arial"/>
              </a:rPr>
              <a:t>число источников</a:t>
            </a:r>
          </a:p>
          <a:p>
            <a:pPr marL="260000" indent="-160000" spcAft="170">
              <a:buChar char="•"/>
            </a:pPr>
            <a:r>
              <a:rPr lang="ru-RU" sz="1000">
                <a:solidFill>
                  <a:srgbClr val="222222"/>
                </a:solidFill>
                <a:latin typeface="Arial"/>
                <a:cs typeface="Arial"/>
              </a:rPr>
              <a:t>привязка к тикеру и времени</a:t>
            </a:r>
          </a:p>
        </p:txBody>
      </p:sp>
      <p:sp>
        <p:nvSpPr>
          <p:cNvPr id="225" name="feature card"/>
          <p:cNvSpPr txBox="1"/>
          <p:nvPr/>
        </p:nvSpPr>
        <p:spPr>
          <a:xfrm>
            <a:off x="3291840" y="1078992"/>
            <a:ext cx="2606040" cy="2240280"/>
          </a:xfrm>
          <a:prstGeom prst="roundRect">
            <a:avLst/>
          </a:prstGeom>
          <a:solidFill>
            <a:srgbClr val="EEF7ED"/>
          </a:solidFill>
          <a:ln w="10000">
            <a:solidFill>
              <a:srgbClr val="D6DEE8"/>
            </a:solidFill>
          </a:ln>
        </p:spPr>
        <p:txBody>
          <a:bodyPr wrap="square" lIns="109728" rIns="109728" tIns="109728" bIns="109728"/>
          <a:lstStyle/>
          <a:p>
            <a:pPr marL="0" indent="0" spcAft="250">
              <a:buNone/>
            </a:pPr>
            <a:r>
              <a:rPr lang="ru-RU" sz="1200" b="1">
                <a:solidFill>
                  <a:srgbClr val="4C9A2A"/>
                </a:solidFill>
                <a:latin typeface="Arial"/>
                <a:cs typeface="Arial"/>
              </a:rPr>
              <a:t>Тональность</a:t>
            </a:r>
          </a:p>
          <a:p>
            <a:pPr marL="260000" indent="-160000" spcAft="170">
              <a:buChar char="•"/>
            </a:pPr>
            <a:r>
              <a:rPr lang="ru-RU" sz="1000">
                <a:solidFill>
                  <a:srgbClr val="222222"/>
                </a:solidFill>
                <a:latin typeface="Arial"/>
                <a:cs typeface="Arial"/>
              </a:rPr>
              <a:t>positive / negative / neutral</a:t>
            </a:r>
          </a:p>
          <a:p>
            <a:pPr marL="260000" indent="-160000" spcAft="170">
              <a:buChar char="•"/>
            </a:pPr>
            <a:r>
              <a:rPr lang="ru-RU" sz="1000">
                <a:solidFill>
                  <a:srgbClr val="222222"/>
                </a:solidFill>
                <a:latin typeface="Arial"/>
                <a:cs typeface="Arial"/>
              </a:rPr>
              <a:t>sentiment_score</a:t>
            </a:r>
          </a:p>
          <a:p>
            <a:pPr marL="260000" indent="-160000" spcAft="170">
              <a:buChar char="•"/>
            </a:pPr>
            <a:r>
              <a:rPr lang="ru-RU" sz="1000">
                <a:solidFill>
                  <a:srgbClr val="222222"/>
                </a:solidFill>
                <a:latin typeface="Arial"/>
                <a:cs typeface="Arial"/>
              </a:rPr>
              <a:t>уверенность sentiment-модели</a:t>
            </a:r>
          </a:p>
        </p:txBody>
      </p:sp>
      <p:sp>
        <p:nvSpPr>
          <p:cNvPr id="226" name="feature card"/>
          <p:cNvSpPr txBox="1"/>
          <p:nvPr/>
        </p:nvSpPr>
        <p:spPr>
          <a:xfrm>
            <a:off x="6080760" y="1078992"/>
            <a:ext cx="2606040" cy="2240280"/>
          </a:xfrm>
          <a:prstGeom prst="roundRect">
            <a:avLst/>
          </a:prstGeom>
          <a:solidFill>
            <a:srgbClr val="FFF3E6"/>
          </a:solidFill>
          <a:ln w="10000">
            <a:solidFill>
              <a:srgbClr val="D6DEE8"/>
            </a:solidFill>
          </a:ln>
        </p:spPr>
        <p:txBody>
          <a:bodyPr wrap="square" lIns="109728" rIns="109728" tIns="109728" bIns="109728"/>
          <a:lstStyle/>
          <a:p>
            <a:pPr marL="0" indent="0" spcAft="250">
              <a:buNone/>
            </a:pPr>
            <a:r>
              <a:rPr lang="ru-RU" sz="1200" b="1">
                <a:solidFill>
                  <a:srgbClr val="D97706"/>
                </a:solidFill>
                <a:latin typeface="Arial"/>
                <a:cs typeface="Arial"/>
              </a:rPr>
              <a:t>Содержание новости</a:t>
            </a:r>
          </a:p>
          <a:p>
            <a:pPr marL="260000" indent="-160000" spcAft="170">
              <a:buChar char="•"/>
            </a:pPr>
            <a:r>
              <a:rPr lang="ru-RU" sz="1000">
                <a:solidFill>
                  <a:srgbClr val="222222"/>
                </a:solidFill>
                <a:latin typeface="Arial"/>
                <a:cs typeface="Arial"/>
              </a:rPr>
              <a:t>TF-IDF + TruncatedSVD</a:t>
            </a:r>
          </a:p>
          <a:p>
            <a:pPr marL="260000" indent="-160000" spcAft="170">
              <a:buChar char="•"/>
            </a:pPr>
            <a:r>
              <a:rPr lang="ru-RU" sz="1000">
                <a:solidFill>
                  <a:srgbClr val="222222"/>
                </a:solidFill>
                <a:latin typeface="Arial"/>
                <a:cs typeface="Arial"/>
              </a:rPr>
              <a:t>RuBERT-эмбеддинги</a:t>
            </a:r>
          </a:p>
          <a:p>
            <a:pPr marL="260000" indent="-160000" spcAft="170">
              <a:buChar char="•"/>
            </a:pPr>
            <a:r>
              <a:rPr lang="ru-RU" sz="1000">
                <a:solidFill>
                  <a:srgbClr val="222222"/>
                </a:solidFill>
                <a:latin typeface="Arial"/>
                <a:cs typeface="Arial"/>
              </a:rPr>
              <a:t>темы, события, релевантность</a:t>
            </a:r>
          </a:p>
        </p:txBody>
      </p:sp>
      <p:sp>
        <p:nvSpPr>
          <p:cNvPr id="227" name="feature process"/>
          <p:cNvSpPr txBox="1"/>
          <p:nvPr/>
        </p:nvSpPr>
        <p:spPr>
          <a:xfrm>
            <a:off x="685800" y="3730752"/>
            <a:ext cx="7909560" cy="576072"/>
          </a:xfrm>
          <a:prstGeom prst="roundRect">
            <a:avLst/>
          </a:prstGeom>
          <a:solidFill>
            <a:srgbClr val="F6F8FB"/>
          </a:solidFill>
          <a:ln w="10000">
            <a:solidFill>
              <a:srgbClr val="D6DEE8"/>
            </a:solidFill>
          </a:ln>
        </p:spPr>
        <p:txBody>
          <a:bodyPr wrap="square" lIns="91440" rIns="91440" tIns="91440" bIns="91440"/>
          <a:lstStyle/>
          <a:p>
            <a:pPr marL="0" indent="0" spcAft="220">
              <a:buNone/>
            </a:pPr>
            <a:r>
              <a:rPr lang="ru-RU" sz="1300" b="1">
                <a:solidFill>
                  <a:srgbClr val="1F2937"/>
                </a:solidFill>
                <a:latin typeface="Arial"/>
                <a:cs typeface="Arial"/>
              </a:rPr>
              <a:t>Агрегация выполняется по паре «тикер - час»: в модель попадают только признаки, доступные на момент прогноза.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27ffa3ad3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Построение моделей</a:t>
            </a:r>
            <a:endParaRPr/>
          </a:p>
        </p:txBody>
      </p:sp>
      <p:sp>
        <p:nvSpPr>
          <p:cNvPr id="230" name="Google Shape;230;g3e27ffa3ad3_0_0"/>
          <p:cNvSpPr txBox="1"/>
          <p:nvPr>
            <p:ph idx="1" type="body"/>
          </p:nvPr>
        </p:nvSpPr>
        <p:spPr>
          <a:xfrm>
            <a:off x="5037800" y="1393400"/>
            <a:ext cx="3776400" cy="294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/>
              <a:t>Разбиение данных:</a:t>
            </a:r>
            <a:endParaRPr sz="1600"/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Обучение: 2020–2023;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Валидация: 2024;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Тест: 2025–2026.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Ал</a:t>
            </a:r>
            <a:r>
              <a:rPr lang="ru-RU" sz="1600"/>
              <a:t>горитмы:</a:t>
            </a:r>
            <a:endParaRPr sz="1600"/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Logistic Regression;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ExtraTrees;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CatBoost;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HistGradientBoosting.</a:t>
            </a:r>
            <a:endParaRPr/>
          </a:p>
        </p:txBody>
      </p:sp>
      <p:sp>
        <p:nvSpPr>
          <p:cNvPr id="231" name="Google Shape;231;g3e27ffa3ad3_0_0"/>
          <p:cNvSpPr/>
          <p:nvPr/>
        </p:nvSpPr>
        <p:spPr>
          <a:xfrm>
            <a:off x="792450" y="1196525"/>
            <a:ext cx="3885300" cy="57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5"/>
              <a:buFont typeface="Arial"/>
              <a:buNone/>
            </a:pPr>
            <a:r>
              <a:rPr lang="ru-RU" sz="1834">
                <a:latin typeface="Golos Text"/>
                <a:ea typeface="Golos Text"/>
                <a:cs typeface="Golos Text"/>
                <a:sym typeface="Golos Text"/>
              </a:rPr>
              <a:t>Новости + котировки</a:t>
            </a:r>
            <a:endParaRPr sz="1834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32" name="Google Shape;232;g3e27ffa3ad3_0_0"/>
          <p:cNvSpPr/>
          <p:nvPr/>
        </p:nvSpPr>
        <p:spPr>
          <a:xfrm>
            <a:off x="792570" y="2115206"/>
            <a:ext cx="3885300" cy="57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5"/>
              <a:buFont typeface="Arial"/>
              <a:buNone/>
            </a:pPr>
            <a:r>
              <a:t/>
            </a:r>
            <a:endParaRPr sz="1918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5"/>
              <a:buFont typeface="Arial"/>
              <a:buNone/>
            </a:pPr>
            <a:r>
              <a:rPr lang="ru-RU" sz="1834">
                <a:latin typeface="Golos Text"/>
                <a:ea typeface="Golos Text"/>
                <a:cs typeface="Golos Text"/>
                <a:sym typeface="Golos Text"/>
              </a:rPr>
              <a:t>Формирование признаков</a:t>
            </a:r>
            <a:endParaRPr sz="1834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8"/>
              <a:buFont typeface="Arial"/>
              <a:buNone/>
            </a:pPr>
            <a:r>
              <a:t/>
            </a:r>
            <a:endParaRPr sz="1918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33" name="Google Shape;233;g3e27ffa3ad3_0_0"/>
          <p:cNvSpPr/>
          <p:nvPr/>
        </p:nvSpPr>
        <p:spPr>
          <a:xfrm>
            <a:off x="792570" y="3033888"/>
            <a:ext cx="3885300" cy="57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5"/>
              <a:buFont typeface="Arial"/>
              <a:buNone/>
            </a:pPr>
            <a:r>
              <a:rPr lang="ru-RU" sz="1834">
                <a:latin typeface="Golos Text"/>
                <a:ea typeface="Golos Text"/>
                <a:cs typeface="Golos Text"/>
                <a:sym typeface="Golos Text"/>
              </a:rPr>
              <a:t>Модели классификации и регрессии</a:t>
            </a:r>
            <a:endParaRPr sz="1834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34" name="Google Shape;234;g3e27ffa3ad3_0_0"/>
          <p:cNvSpPr/>
          <p:nvPr/>
        </p:nvSpPr>
        <p:spPr>
          <a:xfrm>
            <a:off x="792570" y="3952569"/>
            <a:ext cx="3885300" cy="57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5"/>
              <a:buFont typeface="Arial"/>
              <a:buNone/>
            </a:pPr>
            <a:r>
              <a:rPr lang="ru-RU" sz="1818">
                <a:latin typeface="Golos Text"/>
                <a:ea typeface="Golos Text"/>
                <a:cs typeface="Golos Text"/>
                <a:sym typeface="Golos Text"/>
              </a:rPr>
              <a:t>Метрики качества</a:t>
            </a:r>
            <a:endParaRPr sz="1818"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35" name="Google Shape;235;g3e27ffa3ad3_0_0"/>
          <p:cNvCxnSpPr>
            <a:stCxn id="231" idx="2"/>
            <a:endCxn id="232" idx="0"/>
          </p:cNvCxnSpPr>
          <p:nvPr/>
        </p:nvCxnSpPr>
        <p:spPr>
          <a:xfrm>
            <a:off x="2735100" y="1774925"/>
            <a:ext cx="0" cy="340200"/>
          </a:xfrm>
          <a:prstGeom prst="straightConnector1">
            <a:avLst/>
          </a:prstGeom>
          <a:noFill/>
          <a:ln cap="flat" cmpd="sng" w="9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g3e27ffa3ad3_0_0"/>
          <p:cNvCxnSpPr>
            <a:stCxn id="232" idx="2"/>
            <a:endCxn id="233" idx="0"/>
          </p:cNvCxnSpPr>
          <p:nvPr/>
        </p:nvCxnSpPr>
        <p:spPr>
          <a:xfrm>
            <a:off x="2735220" y="2693606"/>
            <a:ext cx="0" cy="340200"/>
          </a:xfrm>
          <a:prstGeom prst="straightConnector1">
            <a:avLst/>
          </a:prstGeom>
          <a:noFill/>
          <a:ln cap="flat" cmpd="sng" w="9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g3e27ffa3ad3_0_0"/>
          <p:cNvCxnSpPr>
            <a:stCxn id="233" idx="2"/>
            <a:endCxn id="234" idx="0"/>
          </p:cNvCxnSpPr>
          <p:nvPr/>
        </p:nvCxnSpPr>
        <p:spPr>
          <a:xfrm>
            <a:off x="2735220" y="3612288"/>
            <a:ext cx="0" cy="340200"/>
          </a:xfrm>
          <a:prstGeom prst="straightConnector1">
            <a:avLst/>
          </a:prstGeom>
          <a:noFill/>
          <a:ln cap="flat" cmpd="sng" w="9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g3e27ffa3ad3_0_0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8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27ffa3ad3_0_3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Результаты экспериментов</a:t>
            </a:r>
            <a:endParaRPr/>
          </a:p>
        </p:txBody>
      </p:sp>
      <p:sp>
        <p:nvSpPr>
          <p:cNvPr id="245" name="Google Shape;245;g3e27ffa3ad3_0_36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9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46" name="chart title"/>
          <p:cNvSpPr txBox="1"/>
          <p:nvPr/>
        </p:nvSpPr>
        <p:spPr>
          <a:xfrm>
            <a:off x="594360" y="960120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/>
          <a:lstStyle/>
          <a:p>
            <a:pPr marL="0" indent="0" spcAft="220">
              <a:buNone/>
            </a:pPr>
            <a:r>
              <a:rPr lang="ru-RU" sz="1200" b="1">
                <a:solidFill>
                  <a:srgbClr val="222222"/>
                </a:solidFill>
                <a:latin typeface="Arial"/>
                <a:cs typeface="Arial"/>
              </a:rPr>
              <a:t>ROC-AUC: лучшее значение по модели</a:t>
            </a:r>
          </a:p>
        </p:txBody>
      </p:sp>
      <p:sp>
        <p:nvSpPr>
          <p:cNvPr id="247" name="grid"/>
          <p:cNvSpPr txBox="1"/>
          <p:nvPr/>
        </p:nvSpPr>
        <p:spPr>
          <a:xfrm>
            <a:off x="777240" y="3512312"/>
            <a:ext cx="3566160" cy="5486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48" name="tick"/>
          <p:cNvSpPr txBox="1"/>
          <p:nvPr/>
        </p:nvSpPr>
        <p:spPr>
          <a:xfrm>
            <a:off x="594360" y="343001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697386"/>
                </a:solidFill>
                <a:latin typeface="Arial"/>
                <a:cs typeface="Arial"/>
              </a:rPr>
              <a:t>0.50</a:t>
            </a:r>
          </a:p>
        </p:txBody>
      </p:sp>
      <p:sp>
        <p:nvSpPr>
          <p:cNvPr id="249" name="grid"/>
          <p:cNvSpPr txBox="1"/>
          <p:nvPr/>
        </p:nvSpPr>
        <p:spPr>
          <a:xfrm>
            <a:off x="777240" y="2983992"/>
            <a:ext cx="3566160" cy="5486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50" name="tick"/>
          <p:cNvSpPr txBox="1"/>
          <p:nvPr/>
        </p:nvSpPr>
        <p:spPr>
          <a:xfrm>
            <a:off x="594360" y="290169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697386"/>
                </a:solidFill>
                <a:latin typeface="Arial"/>
                <a:cs typeface="Arial"/>
              </a:rPr>
              <a:t>0.60</a:t>
            </a:r>
          </a:p>
        </p:txBody>
      </p:sp>
      <p:sp>
        <p:nvSpPr>
          <p:cNvPr id="251" name="grid"/>
          <p:cNvSpPr txBox="1"/>
          <p:nvPr/>
        </p:nvSpPr>
        <p:spPr>
          <a:xfrm>
            <a:off x="777240" y="2455672"/>
            <a:ext cx="3566160" cy="5486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52" name="tick"/>
          <p:cNvSpPr txBox="1"/>
          <p:nvPr/>
        </p:nvSpPr>
        <p:spPr>
          <a:xfrm>
            <a:off x="594360" y="23733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697386"/>
                </a:solidFill>
                <a:latin typeface="Arial"/>
                <a:cs typeface="Arial"/>
              </a:rPr>
              <a:t>0.70</a:t>
            </a:r>
          </a:p>
        </p:txBody>
      </p:sp>
      <p:sp>
        <p:nvSpPr>
          <p:cNvPr id="253" name="grid"/>
          <p:cNvSpPr txBox="1"/>
          <p:nvPr/>
        </p:nvSpPr>
        <p:spPr>
          <a:xfrm>
            <a:off x="777240" y="1927352"/>
            <a:ext cx="3566160" cy="5486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54" name="tick"/>
          <p:cNvSpPr txBox="1"/>
          <p:nvPr/>
        </p:nvSpPr>
        <p:spPr>
          <a:xfrm>
            <a:off x="594360" y="184505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697386"/>
                </a:solidFill>
                <a:latin typeface="Arial"/>
                <a:cs typeface="Arial"/>
              </a:rPr>
              <a:t>0.80</a:t>
            </a:r>
          </a:p>
        </p:txBody>
      </p:sp>
      <p:sp>
        <p:nvSpPr>
          <p:cNvPr id="255" name="grid"/>
          <p:cNvSpPr txBox="1"/>
          <p:nvPr/>
        </p:nvSpPr>
        <p:spPr>
          <a:xfrm>
            <a:off x="777240" y="1399032"/>
            <a:ext cx="3566160" cy="5486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56" name="tick"/>
          <p:cNvSpPr txBox="1"/>
          <p:nvPr/>
        </p:nvSpPr>
        <p:spPr>
          <a:xfrm>
            <a:off x="594360" y="131673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697386"/>
                </a:solidFill>
                <a:latin typeface="Arial"/>
                <a:cs typeface="Arial"/>
              </a:rPr>
              <a:t>0.90</a:t>
            </a:r>
          </a:p>
        </p:txBody>
      </p:sp>
      <p:sp>
        <p:nvSpPr>
          <p:cNvPr id="257" name="bar"/>
          <p:cNvSpPr txBox="1"/>
          <p:nvPr/>
        </p:nvSpPr>
        <p:spPr>
          <a:xfrm>
            <a:off x="914400" y="2619451"/>
            <a:ext cx="720090" cy="115702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58" name="value"/>
          <p:cNvSpPr txBox="1"/>
          <p:nvPr/>
        </p:nvSpPr>
        <p:spPr>
          <a:xfrm>
            <a:off x="886968" y="2418283"/>
            <a:ext cx="77495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800" b="1">
                <a:solidFill>
                  <a:srgbClr val="222222"/>
                </a:solidFill>
                <a:latin typeface="Arial"/>
                <a:cs typeface="Arial"/>
              </a:rPr>
              <a:t>0.669</a:t>
            </a:r>
          </a:p>
        </p:txBody>
      </p:sp>
      <p:sp>
        <p:nvSpPr>
          <p:cNvPr id="259" name="label"/>
          <p:cNvSpPr txBox="1"/>
          <p:nvPr/>
        </p:nvSpPr>
        <p:spPr>
          <a:xfrm>
            <a:off x="804672" y="3849624"/>
            <a:ext cx="93954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333333"/>
                </a:solidFill>
                <a:latin typeface="Arial"/>
                <a:cs typeface="Arial"/>
              </a:rPr>
              <a:t>LogReg</a:t>
            </a:r>
          </a:p>
        </p:txBody>
      </p:sp>
      <p:sp>
        <p:nvSpPr>
          <p:cNvPr id="260" name="bar"/>
          <p:cNvSpPr txBox="1"/>
          <p:nvPr/>
        </p:nvSpPr>
        <p:spPr>
          <a:xfrm>
            <a:off x="1771650" y="2656434"/>
            <a:ext cx="720090" cy="112003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61" name="value"/>
          <p:cNvSpPr txBox="1"/>
          <p:nvPr/>
        </p:nvSpPr>
        <p:spPr>
          <a:xfrm>
            <a:off x="1744218" y="2455266"/>
            <a:ext cx="77495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800" b="1">
                <a:solidFill>
                  <a:srgbClr val="222222"/>
                </a:solidFill>
                <a:latin typeface="Arial"/>
                <a:cs typeface="Arial"/>
              </a:rPr>
              <a:t>0.662</a:t>
            </a:r>
          </a:p>
        </p:txBody>
      </p:sp>
      <p:sp>
        <p:nvSpPr>
          <p:cNvPr id="262" name="label"/>
          <p:cNvSpPr txBox="1"/>
          <p:nvPr/>
        </p:nvSpPr>
        <p:spPr>
          <a:xfrm>
            <a:off x="1661922" y="3849624"/>
            <a:ext cx="93954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333333"/>
                </a:solidFill>
                <a:latin typeface="Arial"/>
                <a:cs typeface="Arial"/>
              </a:rPr>
              <a:t>ExtraTrees</a:t>
            </a:r>
          </a:p>
        </p:txBody>
      </p:sp>
      <p:sp>
        <p:nvSpPr>
          <p:cNvPr id="263" name="bar"/>
          <p:cNvSpPr txBox="1"/>
          <p:nvPr/>
        </p:nvSpPr>
        <p:spPr>
          <a:xfrm>
            <a:off x="2628900" y="2561336"/>
            <a:ext cx="720090" cy="12151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64" name="value"/>
          <p:cNvSpPr txBox="1"/>
          <p:nvPr/>
        </p:nvSpPr>
        <p:spPr>
          <a:xfrm>
            <a:off x="2601468" y="2360168"/>
            <a:ext cx="77495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800" b="1">
                <a:solidFill>
                  <a:srgbClr val="222222"/>
                </a:solidFill>
                <a:latin typeface="Arial"/>
                <a:cs typeface="Arial"/>
              </a:rPr>
              <a:t>0.680</a:t>
            </a:r>
          </a:p>
        </p:txBody>
      </p:sp>
      <p:sp>
        <p:nvSpPr>
          <p:cNvPr id="265" name="label"/>
          <p:cNvSpPr txBox="1"/>
          <p:nvPr/>
        </p:nvSpPr>
        <p:spPr>
          <a:xfrm>
            <a:off x="2519172" y="3849624"/>
            <a:ext cx="93954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333333"/>
                </a:solidFill>
                <a:latin typeface="Arial"/>
                <a:cs typeface="Arial"/>
              </a:rPr>
              <a:t>CatBoost</a:t>
            </a:r>
          </a:p>
        </p:txBody>
      </p:sp>
      <p:sp>
        <p:nvSpPr>
          <p:cNvPr id="266" name="bar"/>
          <p:cNvSpPr txBox="1"/>
          <p:nvPr/>
        </p:nvSpPr>
        <p:spPr>
          <a:xfrm>
            <a:off x="3486150" y="2619451"/>
            <a:ext cx="720090" cy="115702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67" name="value"/>
          <p:cNvSpPr txBox="1"/>
          <p:nvPr/>
        </p:nvSpPr>
        <p:spPr>
          <a:xfrm>
            <a:off x="3458718" y="2418283"/>
            <a:ext cx="77495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800" b="1">
                <a:solidFill>
                  <a:srgbClr val="222222"/>
                </a:solidFill>
                <a:latin typeface="Arial"/>
                <a:cs typeface="Arial"/>
              </a:rPr>
              <a:t>0.669</a:t>
            </a:r>
          </a:p>
        </p:txBody>
      </p:sp>
      <p:sp>
        <p:nvSpPr>
          <p:cNvPr id="268" name="label"/>
          <p:cNvSpPr txBox="1"/>
          <p:nvPr/>
        </p:nvSpPr>
        <p:spPr>
          <a:xfrm>
            <a:off x="3376422" y="3849624"/>
            <a:ext cx="93954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333333"/>
                </a:solidFill>
                <a:latin typeface="Arial"/>
                <a:cs typeface="Arial"/>
              </a:rPr>
              <a:t>HGBoost</a:t>
            </a:r>
          </a:p>
        </p:txBody>
      </p:sp>
      <p:sp>
        <p:nvSpPr>
          <p:cNvPr id="269" name="chart title"/>
          <p:cNvSpPr txBox="1"/>
          <p:nvPr/>
        </p:nvSpPr>
        <p:spPr>
          <a:xfrm>
            <a:off x="4617720" y="960120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/>
          <a:lstStyle/>
          <a:p>
            <a:pPr marL="0" indent="0" spcAft="220">
              <a:buNone/>
            </a:pPr>
            <a:r>
              <a:rPr lang="ru-RU" sz="1200" b="1">
                <a:solidFill>
                  <a:srgbClr val="222222"/>
                </a:solidFill>
                <a:latin typeface="Arial"/>
                <a:cs typeface="Arial"/>
              </a:rPr>
              <a:t>Precision@5%: качество самых уверенных сигналов</a:t>
            </a:r>
          </a:p>
        </p:txBody>
      </p:sp>
      <p:sp>
        <p:nvSpPr>
          <p:cNvPr id="270" name="grid"/>
          <p:cNvSpPr txBox="1"/>
          <p:nvPr/>
        </p:nvSpPr>
        <p:spPr>
          <a:xfrm>
            <a:off x="4800600" y="3512312"/>
            <a:ext cx="3566160" cy="5486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71" name="tick"/>
          <p:cNvSpPr txBox="1"/>
          <p:nvPr/>
        </p:nvSpPr>
        <p:spPr>
          <a:xfrm>
            <a:off x="4617720" y="343001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697386"/>
                </a:solidFill>
                <a:latin typeface="Arial"/>
                <a:cs typeface="Arial"/>
              </a:rPr>
              <a:t>0.50</a:t>
            </a:r>
          </a:p>
        </p:txBody>
      </p:sp>
      <p:sp>
        <p:nvSpPr>
          <p:cNvPr id="272" name="grid"/>
          <p:cNvSpPr txBox="1"/>
          <p:nvPr/>
        </p:nvSpPr>
        <p:spPr>
          <a:xfrm>
            <a:off x="4800600" y="2983992"/>
            <a:ext cx="3566160" cy="5486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73" name="tick"/>
          <p:cNvSpPr txBox="1"/>
          <p:nvPr/>
        </p:nvSpPr>
        <p:spPr>
          <a:xfrm>
            <a:off x="4617720" y="290169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697386"/>
                </a:solidFill>
                <a:latin typeface="Arial"/>
                <a:cs typeface="Arial"/>
              </a:rPr>
              <a:t>0.60</a:t>
            </a:r>
          </a:p>
        </p:txBody>
      </p:sp>
      <p:sp>
        <p:nvSpPr>
          <p:cNvPr id="274" name="grid"/>
          <p:cNvSpPr txBox="1"/>
          <p:nvPr/>
        </p:nvSpPr>
        <p:spPr>
          <a:xfrm>
            <a:off x="4800600" y="2455672"/>
            <a:ext cx="3566160" cy="5486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75" name="tick"/>
          <p:cNvSpPr txBox="1"/>
          <p:nvPr/>
        </p:nvSpPr>
        <p:spPr>
          <a:xfrm>
            <a:off x="4617720" y="237337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697386"/>
                </a:solidFill>
                <a:latin typeface="Arial"/>
                <a:cs typeface="Arial"/>
              </a:rPr>
              <a:t>0.70</a:t>
            </a:r>
          </a:p>
        </p:txBody>
      </p:sp>
      <p:sp>
        <p:nvSpPr>
          <p:cNvPr id="276" name="grid"/>
          <p:cNvSpPr txBox="1"/>
          <p:nvPr/>
        </p:nvSpPr>
        <p:spPr>
          <a:xfrm>
            <a:off x="4800600" y="1927352"/>
            <a:ext cx="3566160" cy="5486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77" name="tick"/>
          <p:cNvSpPr txBox="1"/>
          <p:nvPr/>
        </p:nvSpPr>
        <p:spPr>
          <a:xfrm>
            <a:off x="4617720" y="184505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697386"/>
                </a:solidFill>
                <a:latin typeface="Arial"/>
                <a:cs typeface="Arial"/>
              </a:rPr>
              <a:t>0.80</a:t>
            </a:r>
          </a:p>
        </p:txBody>
      </p:sp>
      <p:sp>
        <p:nvSpPr>
          <p:cNvPr id="278" name="grid"/>
          <p:cNvSpPr txBox="1"/>
          <p:nvPr/>
        </p:nvSpPr>
        <p:spPr>
          <a:xfrm>
            <a:off x="4800600" y="1399032"/>
            <a:ext cx="3566160" cy="5486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79" name="tick"/>
          <p:cNvSpPr txBox="1"/>
          <p:nvPr/>
        </p:nvSpPr>
        <p:spPr>
          <a:xfrm>
            <a:off x="4617720" y="1316736"/>
            <a:ext cx="3200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697386"/>
                </a:solidFill>
                <a:latin typeface="Arial"/>
                <a:cs typeface="Arial"/>
              </a:rPr>
              <a:t>0.90</a:t>
            </a:r>
          </a:p>
        </p:txBody>
      </p:sp>
      <p:sp>
        <p:nvSpPr>
          <p:cNvPr id="280" name="bar"/>
          <p:cNvSpPr txBox="1"/>
          <p:nvPr/>
        </p:nvSpPr>
        <p:spPr>
          <a:xfrm>
            <a:off x="4937760" y="1721307"/>
            <a:ext cx="720090" cy="205516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81" name="value"/>
          <p:cNvSpPr txBox="1"/>
          <p:nvPr/>
        </p:nvSpPr>
        <p:spPr>
          <a:xfrm>
            <a:off x="4910328" y="1520139"/>
            <a:ext cx="77495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800" b="1">
                <a:solidFill>
                  <a:srgbClr val="222222"/>
                </a:solidFill>
                <a:latin typeface="Arial"/>
                <a:cs typeface="Arial"/>
              </a:rPr>
              <a:t>0.839</a:t>
            </a:r>
          </a:p>
        </p:txBody>
      </p:sp>
      <p:sp>
        <p:nvSpPr>
          <p:cNvPr id="282" name="label"/>
          <p:cNvSpPr txBox="1"/>
          <p:nvPr/>
        </p:nvSpPr>
        <p:spPr>
          <a:xfrm>
            <a:off x="4828032" y="3849624"/>
            <a:ext cx="93954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333333"/>
                </a:solidFill>
                <a:latin typeface="Arial"/>
                <a:cs typeface="Arial"/>
              </a:rPr>
              <a:t>LogReg</a:t>
            </a:r>
          </a:p>
        </p:txBody>
      </p:sp>
      <p:sp>
        <p:nvSpPr>
          <p:cNvPr id="283" name="bar"/>
          <p:cNvSpPr txBox="1"/>
          <p:nvPr/>
        </p:nvSpPr>
        <p:spPr>
          <a:xfrm>
            <a:off x="5795010" y="1768856"/>
            <a:ext cx="720090" cy="20076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84" name="value"/>
          <p:cNvSpPr txBox="1"/>
          <p:nvPr/>
        </p:nvSpPr>
        <p:spPr>
          <a:xfrm>
            <a:off x="5767578" y="1567688"/>
            <a:ext cx="77495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800" b="1">
                <a:solidFill>
                  <a:srgbClr val="222222"/>
                </a:solidFill>
                <a:latin typeface="Arial"/>
                <a:cs typeface="Arial"/>
              </a:rPr>
              <a:t>0.830</a:t>
            </a:r>
          </a:p>
        </p:txBody>
      </p:sp>
      <p:sp>
        <p:nvSpPr>
          <p:cNvPr id="285" name="label"/>
          <p:cNvSpPr txBox="1"/>
          <p:nvPr/>
        </p:nvSpPr>
        <p:spPr>
          <a:xfrm>
            <a:off x="5685282" y="3849624"/>
            <a:ext cx="93954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333333"/>
                </a:solidFill>
                <a:latin typeface="Arial"/>
                <a:cs typeface="Arial"/>
              </a:rPr>
              <a:t>ExtraTrees</a:t>
            </a:r>
          </a:p>
        </p:txBody>
      </p:sp>
      <p:sp>
        <p:nvSpPr>
          <p:cNvPr id="286" name="bar"/>
          <p:cNvSpPr txBox="1"/>
          <p:nvPr/>
        </p:nvSpPr>
        <p:spPr>
          <a:xfrm>
            <a:off x="6652260" y="1531112"/>
            <a:ext cx="720090" cy="2245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87" name="value"/>
          <p:cNvSpPr txBox="1"/>
          <p:nvPr/>
        </p:nvSpPr>
        <p:spPr>
          <a:xfrm>
            <a:off x="6624828" y="1329944"/>
            <a:ext cx="77495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800" b="1">
                <a:solidFill>
                  <a:srgbClr val="222222"/>
                </a:solidFill>
                <a:latin typeface="Arial"/>
                <a:cs typeface="Arial"/>
              </a:rPr>
              <a:t>0.875</a:t>
            </a:r>
          </a:p>
        </p:txBody>
      </p:sp>
      <p:sp>
        <p:nvSpPr>
          <p:cNvPr id="288" name="label"/>
          <p:cNvSpPr txBox="1"/>
          <p:nvPr/>
        </p:nvSpPr>
        <p:spPr>
          <a:xfrm>
            <a:off x="6542532" y="3849624"/>
            <a:ext cx="93954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333333"/>
                </a:solidFill>
                <a:latin typeface="Arial"/>
                <a:cs typeface="Arial"/>
              </a:rPr>
              <a:t>CatBoost</a:t>
            </a:r>
          </a:p>
        </p:txBody>
      </p:sp>
      <p:sp>
        <p:nvSpPr>
          <p:cNvPr id="289" name="bar"/>
          <p:cNvSpPr txBox="1"/>
          <p:nvPr/>
        </p:nvSpPr>
        <p:spPr>
          <a:xfrm>
            <a:off x="7509510" y="1578661"/>
            <a:ext cx="720090" cy="219781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wrap="square" lIns="0" rIns="0" tIns="0" bIns="0"/>
          <a:lstStyle/>
        </p:txBody>
      </p:sp>
      <p:sp>
        <p:nvSpPr>
          <p:cNvPr id="290" name="value"/>
          <p:cNvSpPr txBox="1"/>
          <p:nvPr/>
        </p:nvSpPr>
        <p:spPr>
          <a:xfrm>
            <a:off x="7482078" y="1377493"/>
            <a:ext cx="77495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800" b="1">
                <a:solidFill>
                  <a:srgbClr val="222222"/>
                </a:solidFill>
                <a:latin typeface="Arial"/>
                <a:cs typeface="Arial"/>
              </a:rPr>
              <a:t>0.866</a:t>
            </a:r>
          </a:p>
        </p:txBody>
      </p:sp>
      <p:sp>
        <p:nvSpPr>
          <p:cNvPr id="291" name="label"/>
          <p:cNvSpPr txBox="1"/>
          <p:nvPr/>
        </p:nvSpPr>
        <p:spPr>
          <a:xfrm>
            <a:off x="7399782" y="3849624"/>
            <a:ext cx="93954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 spcAft="220">
              <a:buNone/>
            </a:pPr>
            <a:r>
              <a:rPr lang="ru-RU" sz="700">
                <a:solidFill>
                  <a:srgbClr val="333333"/>
                </a:solidFill>
                <a:latin typeface="Arial"/>
                <a:cs typeface="Arial"/>
              </a:rPr>
              <a:t>HGBoost</a:t>
            </a:r>
          </a:p>
        </p:txBody>
      </p:sp>
      <p:sp>
        <p:nvSpPr>
          <p:cNvPr id="292" name="chart note"/>
          <p:cNvSpPr txBox="1"/>
          <p:nvPr/>
        </p:nvSpPr>
        <p:spPr>
          <a:xfrm>
            <a:off x="731520" y="4315968"/>
            <a:ext cx="7543800" cy="347472"/>
          </a:xfrm>
          <a:prstGeom prst="roundRect">
            <a:avLst/>
          </a:prstGeom>
          <a:solidFill>
            <a:srgbClr val="F6F8FB"/>
          </a:solidFill>
          <a:ln w="10000">
            <a:solidFill>
              <a:srgbClr val="D6DEE8"/>
            </a:solidFill>
          </a:ln>
        </p:spPr>
        <p:txBody>
          <a:bodyPr wrap="square" lIns="64008" rIns="64008" tIns="64008" bIns="64008"/>
          <a:lstStyle/>
          <a:p>
            <a:pPr marL="0" indent="0" spcAft="220">
              <a:buNone/>
            </a:pPr>
            <a:r>
              <a:rPr lang="ru-RU" sz="1000">
                <a:solidFill>
                  <a:srgbClr val="384152"/>
                </a:solidFill>
                <a:latin typeface="Arial"/>
                <a:cs typeface="Arial"/>
              </a:rPr>
              <a:t>CatBoost показывает максимум по ROC-AUC и Precision@5%; HistGradientBoosting близок по качеству и дает лучший F1 на объединенных признаках.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4a6605a23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marL="0" indent="0" spcAft="300">
              <a:buNone/>
            </a:pPr>
            <a:r>
              <a:rPr lang="ru-RU" sz="2400">
                <a:solidFill>
                  <a:srgbClr val="222222"/>
                </a:solidFill>
                <a:latin typeface="Arial"/>
                <a:cs typeface="Arial"/>
              </a:rPr>
              <a:t>Лучший алгоритм по признаковым пространствам</a:t>
            </a:r>
          </a:p>
        </p:txBody>
      </p:sp>
      <p:sp>
        <p:nvSpPr>
          <p:cNvPr id="253" name="Google Shape;253;g3e4a6605a23_0_0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9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4" name="table cell"/>
          <p:cNvSpPr txBox="1"/>
          <p:nvPr/>
        </p:nvSpPr>
        <p:spPr>
          <a:xfrm>
            <a:off x="566928" y="1207008"/>
            <a:ext cx="2011680" cy="438912"/>
          </a:xfrm>
          <a:prstGeom prst="rect">
            <a:avLst/>
          </a:prstGeom>
          <a:solidFill>
            <a:srgbClr val="1E3A5F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 b="1">
                <a:solidFill>
                  <a:srgbClr val="FFFFFF"/>
                </a:solidFill>
                <a:latin typeface="Arial"/>
                <a:cs typeface="Arial"/>
              </a:rPr>
              <a:t>Признаковое пространство</a:t>
            </a:r>
          </a:p>
        </p:txBody>
      </p:sp>
      <p:sp>
        <p:nvSpPr>
          <p:cNvPr id="255" name="table cell"/>
          <p:cNvSpPr txBox="1"/>
          <p:nvPr/>
        </p:nvSpPr>
        <p:spPr>
          <a:xfrm>
            <a:off x="2578608" y="1207008"/>
            <a:ext cx="1874520" cy="438912"/>
          </a:xfrm>
          <a:prstGeom prst="rect">
            <a:avLst/>
          </a:prstGeom>
          <a:solidFill>
            <a:srgbClr val="1E3A5F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 b="1">
                <a:solidFill>
                  <a:srgbClr val="FFFFFF"/>
                </a:solidFill>
                <a:latin typeface="Arial"/>
                <a:cs typeface="Arial"/>
              </a:rPr>
              <a:t>Лучший алгоритм</a:t>
            </a:r>
          </a:p>
        </p:txBody>
      </p:sp>
      <p:sp>
        <p:nvSpPr>
          <p:cNvPr id="256" name="table cell"/>
          <p:cNvSpPr txBox="1"/>
          <p:nvPr/>
        </p:nvSpPr>
        <p:spPr>
          <a:xfrm>
            <a:off x="4453128" y="1207008"/>
            <a:ext cx="749808" cy="438912"/>
          </a:xfrm>
          <a:prstGeom prst="rect">
            <a:avLst/>
          </a:prstGeom>
          <a:solidFill>
            <a:srgbClr val="1E3A5F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 b="1">
                <a:solidFill>
                  <a:srgbClr val="FFFFFF"/>
                </a:solidFill>
                <a:latin typeface="Arial"/>
                <a:cs typeface="Arial"/>
              </a:rPr>
              <a:t>F1</a:t>
            </a:r>
          </a:p>
        </p:txBody>
      </p:sp>
      <p:sp>
        <p:nvSpPr>
          <p:cNvPr id="257" name="table cell"/>
          <p:cNvSpPr txBox="1"/>
          <p:nvPr/>
        </p:nvSpPr>
        <p:spPr>
          <a:xfrm>
            <a:off x="5202936" y="1207008"/>
            <a:ext cx="960120" cy="438912"/>
          </a:xfrm>
          <a:prstGeom prst="rect">
            <a:avLst/>
          </a:prstGeom>
          <a:solidFill>
            <a:srgbClr val="1E3A5F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 b="1">
                <a:solidFill>
                  <a:srgbClr val="FFFFFF"/>
                </a:solidFill>
                <a:latin typeface="Arial"/>
                <a:cs typeface="Arial"/>
              </a:rPr>
              <a:t>ROC-AUC</a:t>
            </a:r>
          </a:p>
        </p:txBody>
      </p:sp>
      <p:sp>
        <p:nvSpPr>
          <p:cNvPr id="258" name="table cell"/>
          <p:cNvSpPr txBox="1"/>
          <p:nvPr/>
        </p:nvSpPr>
        <p:spPr>
          <a:xfrm>
            <a:off x="6163056" y="1207008"/>
            <a:ext cx="960120" cy="438912"/>
          </a:xfrm>
          <a:prstGeom prst="rect">
            <a:avLst/>
          </a:prstGeom>
          <a:solidFill>
            <a:srgbClr val="1E3A5F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 b="1">
                <a:solidFill>
                  <a:srgbClr val="FFFFFF"/>
                </a:solidFill>
                <a:latin typeface="Arial"/>
                <a:cs typeface="Arial"/>
              </a:rPr>
              <a:t>PR-AUC</a:t>
            </a:r>
          </a:p>
        </p:txBody>
      </p:sp>
      <p:sp>
        <p:nvSpPr>
          <p:cNvPr id="259" name="table cell"/>
          <p:cNvSpPr txBox="1"/>
          <p:nvPr/>
        </p:nvSpPr>
        <p:spPr>
          <a:xfrm>
            <a:off x="7123176" y="1207008"/>
            <a:ext cx="1188720" cy="438912"/>
          </a:xfrm>
          <a:prstGeom prst="rect">
            <a:avLst/>
          </a:prstGeom>
          <a:solidFill>
            <a:srgbClr val="1E3A5F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 b="1">
                <a:solidFill>
                  <a:srgbClr val="FFFFFF"/>
                </a:solidFill>
                <a:latin typeface="Arial"/>
                <a:cs typeface="Arial"/>
              </a:rPr>
              <a:t>Precision@5%</a:t>
            </a:r>
          </a:p>
        </p:txBody>
      </p:sp>
      <p:sp>
        <p:nvSpPr>
          <p:cNvPr id="260" name="table cell"/>
          <p:cNvSpPr txBox="1"/>
          <p:nvPr/>
        </p:nvSpPr>
        <p:spPr>
          <a:xfrm>
            <a:off x="566928" y="1645920"/>
            <a:ext cx="2011680" cy="438912"/>
          </a:xfrm>
          <a:prstGeom prst="rect">
            <a:avLst/>
          </a:prstGeom>
          <a:solidFill>
            <a:srgbClr val="F5F8FC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Только новости</a:t>
            </a:r>
          </a:p>
        </p:txBody>
      </p:sp>
      <p:sp>
        <p:nvSpPr>
          <p:cNvPr id="261" name="table cell"/>
          <p:cNvSpPr txBox="1"/>
          <p:nvPr/>
        </p:nvSpPr>
        <p:spPr>
          <a:xfrm>
            <a:off x="2578608" y="1645920"/>
            <a:ext cx="1874520" cy="438912"/>
          </a:xfrm>
          <a:prstGeom prst="rect">
            <a:avLst/>
          </a:prstGeom>
          <a:solidFill>
            <a:srgbClr val="F5F8FC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CatBoost</a:t>
            </a:r>
          </a:p>
        </p:txBody>
      </p:sp>
      <p:sp>
        <p:nvSpPr>
          <p:cNvPr id="262" name="table cell"/>
          <p:cNvSpPr txBox="1"/>
          <p:nvPr/>
        </p:nvSpPr>
        <p:spPr>
          <a:xfrm>
            <a:off x="4453128" y="1645920"/>
            <a:ext cx="749808" cy="438912"/>
          </a:xfrm>
          <a:prstGeom prst="rect">
            <a:avLst/>
          </a:prstGeom>
          <a:solidFill>
            <a:srgbClr val="F5F8FC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0.483</a:t>
            </a:r>
          </a:p>
        </p:txBody>
      </p:sp>
      <p:sp>
        <p:nvSpPr>
          <p:cNvPr id="263" name="table cell"/>
          <p:cNvSpPr txBox="1"/>
          <p:nvPr/>
        </p:nvSpPr>
        <p:spPr>
          <a:xfrm>
            <a:off x="5202936" y="1645920"/>
            <a:ext cx="960120" cy="438912"/>
          </a:xfrm>
          <a:prstGeom prst="rect">
            <a:avLst/>
          </a:prstGeom>
          <a:solidFill>
            <a:srgbClr val="F5F8FC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0.497</a:t>
            </a:r>
          </a:p>
        </p:txBody>
      </p:sp>
      <p:sp>
        <p:nvSpPr>
          <p:cNvPr id="264" name="table cell"/>
          <p:cNvSpPr txBox="1"/>
          <p:nvPr/>
        </p:nvSpPr>
        <p:spPr>
          <a:xfrm>
            <a:off x="6163056" y="1645920"/>
            <a:ext cx="960120" cy="438912"/>
          </a:xfrm>
          <a:prstGeom prst="rect">
            <a:avLst/>
          </a:prstGeom>
          <a:solidFill>
            <a:srgbClr val="F5F8FC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0.511</a:t>
            </a:r>
          </a:p>
        </p:txBody>
      </p:sp>
      <p:sp>
        <p:nvSpPr>
          <p:cNvPr id="265" name="table cell"/>
          <p:cNvSpPr txBox="1"/>
          <p:nvPr/>
        </p:nvSpPr>
        <p:spPr>
          <a:xfrm>
            <a:off x="7123176" y="1645920"/>
            <a:ext cx="1188720" cy="438912"/>
          </a:xfrm>
          <a:prstGeom prst="rect">
            <a:avLst/>
          </a:prstGeom>
          <a:solidFill>
            <a:srgbClr val="F5F8FC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0.607</a:t>
            </a:r>
          </a:p>
        </p:txBody>
      </p:sp>
      <p:sp>
        <p:nvSpPr>
          <p:cNvPr id="266" name="table cell"/>
          <p:cNvSpPr txBox="1"/>
          <p:nvPr/>
        </p:nvSpPr>
        <p:spPr>
          <a:xfrm>
            <a:off x="566928" y="2084832"/>
            <a:ext cx="2011680" cy="438912"/>
          </a:xfrm>
          <a:prstGeom prst="rect">
            <a:avLst/>
          </a:prstGeom>
          <a:solidFill>
            <a:srgbClr val="FFFFFF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Рынок в момент новости</a:t>
            </a:r>
          </a:p>
        </p:txBody>
      </p:sp>
      <p:sp>
        <p:nvSpPr>
          <p:cNvPr id="267" name="table cell"/>
          <p:cNvSpPr txBox="1"/>
          <p:nvPr/>
        </p:nvSpPr>
        <p:spPr>
          <a:xfrm>
            <a:off x="2578608" y="2084832"/>
            <a:ext cx="1874520" cy="438912"/>
          </a:xfrm>
          <a:prstGeom prst="rect">
            <a:avLst/>
          </a:prstGeom>
          <a:solidFill>
            <a:srgbClr val="FFFFFF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CatBoost</a:t>
            </a:r>
          </a:p>
        </p:txBody>
      </p:sp>
      <p:sp>
        <p:nvSpPr>
          <p:cNvPr id="268" name="table cell"/>
          <p:cNvSpPr txBox="1"/>
          <p:nvPr/>
        </p:nvSpPr>
        <p:spPr>
          <a:xfrm>
            <a:off x="4453128" y="2084832"/>
            <a:ext cx="749808" cy="438912"/>
          </a:xfrm>
          <a:prstGeom prst="rect">
            <a:avLst/>
          </a:prstGeom>
          <a:solidFill>
            <a:srgbClr val="FFFFFF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0.541</a:t>
            </a:r>
          </a:p>
        </p:txBody>
      </p:sp>
      <p:sp>
        <p:nvSpPr>
          <p:cNvPr id="269" name="table cell"/>
          <p:cNvSpPr txBox="1"/>
          <p:nvPr/>
        </p:nvSpPr>
        <p:spPr>
          <a:xfrm>
            <a:off x="5202936" y="2084832"/>
            <a:ext cx="960120" cy="438912"/>
          </a:xfrm>
          <a:prstGeom prst="rect">
            <a:avLst/>
          </a:prstGeom>
          <a:solidFill>
            <a:srgbClr val="FFFFFF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0.680</a:t>
            </a:r>
          </a:p>
        </p:txBody>
      </p:sp>
      <p:sp>
        <p:nvSpPr>
          <p:cNvPr id="270" name="table cell"/>
          <p:cNvSpPr txBox="1"/>
          <p:nvPr/>
        </p:nvSpPr>
        <p:spPr>
          <a:xfrm>
            <a:off x="6163056" y="2084832"/>
            <a:ext cx="960120" cy="438912"/>
          </a:xfrm>
          <a:prstGeom prst="rect">
            <a:avLst/>
          </a:prstGeom>
          <a:solidFill>
            <a:srgbClr val="FFFFFF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0.688</a:t>
            </a:r>
          </a:p>
        </p:txBody>
      </p:sp>
      <p:sp>
        <p:nvSpPr>
          <p:cNvPr id="271" name="table cell"/>
          <p:cNvSpPr txBox="1"/>
          <p:nvPr/>
        </p:nvSpPr>
        <p:spPr>
          <a:xfrm>
            <a:off x="7123176" y="2084832"/>
            <a:ext cx="1188720" cy="438912"/>
          </a:xfrm>
          <a:prstGeom prst="rect">
            <a:avLst/>
          </a:prstGeom>
          <a:solidFill>
            <a:srgbClr val="FFFFFF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0.875</a:t>
            </a:r>
          </a:p>
        </p:txBody>
      </p:sp>
      <p:sp>
        <p:nvSpPr>
          <p:cNvPr id="272" name="table cell"/>
          <p:cNvSpPr txBox="1"/>
          <p:nvPr/>
        </p:nvSpPr>
        <p:spPr>
          <a:xfrm>
            <a:off x="566928" y="2523744"/>
            <a:ext cx="2011680" cy="438912"/>
          </a:xfrm>
          <a:prstGeom prst="rect">
            <a:avLst/>
          </a:prstGeom>
          <a:solidFill>
            <a:srgbClr val="F5F8FC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Новости + рынок</a:t>
            </a:r>
          </a:p>
        </p:txBody>
      </p:sp>
      <p:sp>
        <p:nvSpPr>
          <p:cNvPr id="273" name="table cell"/>
          <p:cNvSpPr txBox="1"/>
          <p:nvPr/>
        </p:nvSpPr>
        <p:spPr>
          <a:xfrm>
            <a:off x="2578608" y="2523744"/>
            <a:ext cx="1874520" cy="438912"/>
          </a:xfrm>
          <a:prstGeom prst="rect">
            <a:avLst/>
          </a:prstGeom>
          <a:solidFill>
            <a:srgbClr val="F5F8FC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HistGradientBoosting</a:t>
            </a:r>
          </a:p>
        </p:txBody>
      </p:sp>
      <p:sp>
        <p:nvSpPr>
          <p:cNvPr id="274" name="table cell"/>
          <p:cNvSpPr txBox="1"/>
          <p:nvPr/>
        </p:nvSpPr>
        <p:spPr>
          <a:xfrm>
            <a:off x="4453128" y="2523744"/>
            <a:ext cx="749808" cy="438912"/>
          </a:xfrm>
          <a:prstGeom prst="rect">
            <a:avLst/>
          </a:prstGeom>
          <a:solidFill>
            <a:srgbClr val="F5F8FC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0.551</a:t>
            </a:r>
          </a:p>
        </p:txBody>
      </p:sp>
      <p:sp>
        <p:nvSpPr>
          <p:cNvPr id="275" name="table cell"/>
          <p:cNvSpPr txBox="1"/>
          <p:nvPr/>
        </p:nvSpPr>
        <p:spPr>
          <a:xfrm>
            <a:off x="5202936" y="2523744"/>
            <a:ext cx="960120" cy="438912"/>
          </a:xfrm>
          <a:prstGeom prst="rect">
            <a:avLst/>
          </a:prstGeom>
          <a:solidFill>
            <a:srgbClr val="F5F8FC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0.669</a:t>
            </a:r>
          </a:p>
        </p:txBody>
      </p:sp>
      <p:sp>
        <p:nvSpPr>
          <p:cNvPr id="276" name="table cell"/>
          <p:cNvSpPr txBox="1"/>
          <p:nvPr/>
        </p:nvSpPr>
        <p:spPr>
          <a:xfrm>
            <a:off x="6163056" y="2523744"/>
            <a:ext cx="960120" cy="438912"/>
          </a:xfrm>
          <a:prstGeom prst="rect">
            <a:avLst/>
          </a:prstGeom>
          <a:solidFill>
            <a:srgbClr val="F5F8FC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0.681</a:t>
            </a:r>
          </a:p>
        </p:txBody>
      </p:sp>
      <p:sp>
        <p:nvSpPr>
          <p:cNvPr id="277" name="table cell"/>
          <p:cNvSpPr txBox="1"/>
          <p:nvPr/>
        </p:nvSpPr>
        <p:spPr>
          <a:xfrm>
            <a:off x="7123176" y="2523744"/>
            <a:ext cx="1188720" cy="438912"/>
          </a:xfrm>
          <a:prstGeom prst="rect">
            <a:avLst/>
          </a:prstGeom>
          <a:solidFill>
            <a:srgbClr val="F5F8FC"/>
          </a:solidFill>
          <a:ln w="10000">
            <a:solidFill>
              <a:srgbClr val="C9D2DF"/>
            </a:solidFill>
          </a:ln>
        </p:spPr>
        <p:txBody>
          <a:bodyPr wrap="square" lIns="36576" rIns="36576" tIns="36576" bIns="36576"/>
          <a:lstStyle/>
          <a:p>
            <a:pPr marL="0" indent="0" spcAft="220">
              <a:buNone/>
            </a:pPr>
            <a:r>
              <a:rPr lang="ru-RU" sz="800">
                <a:solidFill>
                  <a:srgbClr val="222222"/>
                </a:solidFill>
                <a:latin typeface="Arial"/>
                <a:cs typeface="Arial"/>
              </a:rPr>
              <a:t>0.866</a:t>
            </a:r>
          </a:p>
        </p:txBody>
      </p:sp>
      <p:sp>
        <p:nvSpPr>
          <p:cNvPr id="278" name="criterion note"/>
          <p:cNvSpPr txBox="1"/>
          <p:nvPr/>
        </p:nvSpPr>
        <p:spPr>
          <a:xfrm>
            <a:off x="658368" y="3246120"/>
            <a:ext cx="7818120" cy="877824"/>
          </a:xfrm>
          <a:prstGeom prst="roundRect">
            <a:avLst/>
          </a:prstGeom>
          <a:solidFill>
            <a:srgbClr val="F6F8FB"/>
          </a:solidFill>
          <a:ln w="10000">
            <a:solidFill>
              <a:srgbClr val="D6DEE8"/>
            </a:solidFill>
          </a:ln>
        </p:spPr>
        <p:txBody>
          <a:bodyPr wrap="square" lIns="91440" rIns="91440" tIns="91440" bIns="91440"/>
          <a:lstStyle/>
          <a:p>
            <a:pPr marL="0" indent="0" spcAft="180">
              <a:buNone/>
            </a:pPr>
            <a:r>
              <a:rPr lang="ru-RU" sz="1200" b="1">
                <a:solidFill>
                  <a:srgbClr val="1F2937"/>
                </a:solidFill>
                <a:latin typeface="Arial"/>
                <a:cs typeface="Arial"/>
              </a:rPr>
              <a:t>Критерий выбора: Precision@5% как метрика качества наиболее уверенных сигналов; при равенстве учитывался F1.</a:t>
            </a:r>
          </a:p>
          <a:p>
            <a:pPr marL="0" indent="0" spcAft="220">
              <a:buNone/>
            </a:pPr>
            <a:r>
              <a:rPr lang="ru-RU" sz="1100">
                <a:solidFill>
                  <a:srgbClr val="384152"/>
                </a:solidFill>
                <a:latin typeface="Arial"/>
                <a:cs typeface="Arial"/>
              </a:rPr>
              <a:t>Новостные признаки сами по себе слабые, но в моменты появления новостей рыночные признаки дают устойчивый сигнал; объединение признаков повышает F1.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83f8d5ae5_0_1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интерфейса</a:t>
            </a:r>
            <a:endParaRPr/>
          </a:p>
        </p:txBody>
      </p:sp>
      <p:sp>
        <p:nvSpPr>
          <p:cNvPr id="261" name="Google Shape;261;g3d83f8d5ae5_0_12"/>
          <p:cNvSpPr txBox="1"/>
          <p:nvPr/>
        </p:nvSpPr>
        <p:spPr>
          <a:xfrm>
            <a:off x="6144000" y="47809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10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62" name="Google Shape;262;g3d83f8d5ae5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9650" y="932775"/>
            <a:ext cx="5553075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490387d3b_0_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интерфейса</a:t>
            </a:r>
            <a:endParaRPr/>
          </a:p>
        </p:txBody>
      </p:sp>
      <p:sp>
        <p:nvSpPr>
          <p:cNvPr id="269" name="Google Shape;269;g3e490387d3b_0_6"/>
          <p:cNvSpPr txBox="1"/>
          <p:nvPr/>
        </p:nvSpPr>
        <p:spPr>
          <a:xfrm>
            <a:off x="6144000" y="47809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10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70" name="Google Shape;270;g3e490387d3b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800" y="944650"/>
            <a:ext cx="7445350" cy="386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1cf2e9a2d_0_349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277" name="Google Shape;277;g391cf2e9a2d_0_349"/>
          <p:cNvSpPr txBox="1"/>
          <p:nvPr>
            <p:ph idx="1" type="body"/>
          </p:nvPr>
        </p:nvSpPr>
        <p:spPr>
          <a:xfrm>
            <a:off x="609774" y="12104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Результаты: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arenR"/>
            </a:pPr>
            <a:r>
              <a:rPr lang="ru-RU" sz="1600"/>
              <a:t>разработана архитектура системы;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arenR"/>
            </a:pPr>
            <a:r>
              <a:rPr lang="ru-RU" sz="1600"/>
              <a:t>собрано более 600 тысяч строк данных котировок и более 200 тысяч строк данных новостей;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arenR"/>
            </a:pPr>
            <a:r>
              <a:rPr lang="ru-RU" sz="1600"/>
              <a:t>лучшая модель HGBoosting: ROC-AUC = 0.67, Precision@5% = 0.87;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arenR"/>
            </a:pPr>
            <a:r>
              <a:rPr lang="ru-RU" sz="1600"/>
              <a:t>создан пользовательский интерфейс.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Дальнейшие шаги: </a:t>
            </a:r>
            <a:r>
              <a:rPr lang="ru-RU" sz="1600"/>
              <a:t>расширение и повышение качества набора новостных данных; тестирование нейросетевых моделей. </a:t>
            </a:r>
            <a:endParaRPr sz="1600"/>
          </a:p>
        </p:txBody>
      </p:sp>
      <p:sp>
        <p:nvSpPr>
          <p:cNvPr id="278" name="Google Shape;278;g391cf2e9a2d_0_3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11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 txBox="1"/>
          <p:nvPr>
            <p:ph type="title"/>
          </p:nvPr>
        </p:nvSpPr>
        <p:spPr>
          <a:xfrm>
            <a:off x="457200" y="2261388"/>
            <a:ext cx="82296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t/>
            </a:r>
            <a:endParaRPr sz="4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2500"/>
              <a:t>Контакты: denisovila328@gmail.com</a:t>
            </a:r>
            <a:endParaRPr sz="2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2500"/>
              <a:t>Денисов Илья Алексеевич</a:t>
            </a:r>
            <a:endParaRPr sz="2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t/>
            </a:r>
            <a:endParaRPr sz="4400"/>
          </a:p>
        </p:txBody>
      </p:sp>
      <p:sp>
        <p:nvSpPr>
          <p:cNvPr id="284" name="Google Shape;284;p12"/>
          <p:cNvSpPr txBox="1"/>
          <p:nvPr/>
        </p:nvSpPr>
        <p:spPr>
          <a:xfrm>
            <a:off x="6880123" y="4468762"/>
            <a:ext cx="19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27ffa3ad3_0_4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Аналоги</a:t>
            </a:r>
            <a:endParaRPr/>
          </a:p>
        </p:txBody>
      </p:sp>
      <p:sp>
        <p:nvSpPr>
          <p:cNvPr id="291" name="Google Shape;291;g3e27ffa3ad3_0_43"/>
          <p:cNvSpPr txBox="1"/>
          <p:nvPr/>
        </p:nvSpPr>
        <p:spPr>
          <a:xfrm>
            <a:off x="8839200" y="4743300"/>
            <a:ext cx="30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e27ffa3ad3_0_43"/>
          <p:cNvSpPr/>
          <p:nvPr/>
        </p:nvSpPr>
        <p:spPr>
          <a:xfrm>
            <a:off x="457200" y="938000"/>
            <a:ext cx="2442900" cy="151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latin typeface="Golos Text"/>
                <a:ea typeface="Golos Text"/>
                <a:cs typeface="Golos Text"/>
                <a:sym typeface="Golos Text"/>
              </a:rPr>
              <a:t>Finam AI-скринер, T-Инвестиции</a:t>
            </a:r>
            <a:endParaRPr b="0" i="0" sz="20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3" name="Google Shape;293;g3e27ffa3ad3_0_43"/>
          <p:cNvSpPr/>
          <p:nvPr/>
        </p:nvSpPr>
        <p:spPr>
          <a:xfrm>
            <a:off x="547600" y="2557475"/>
            <a:ext cx="2442900" cy="151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RavenPack, Stockpulse, arya.ai</a:t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4" name="Google Shape;294;g3e27ffa3ad3_0_43"/>
          <p:cNvSpPr/>
          <p:nvPr/>
        </p:nvSpPr>
        <p:spPr>
          <a:xfrm>
            <a:off x="4874725" y="1133975"/>
            <a:ext cx="3732300" cy="95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630000" spcFirstLastPara="1" rIns="91425" wrap="square" tIns="91425">
            <a:noAutofit/>
          </a:bodyPr>
          <a:lstStyle/>
          <a:p>
            <a:pPr indent="-36195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latin typeface="Golos Text"/>
                <a:ea typeface="Golos Text"/>
                <a:cs typeface="Golos Text"/>
                <a:sym typeface="Golos Text"/>
              </a:rPr>
              <a:t>  • нет прогноза цен по новостям</a:t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5" name="Google Shape;295;g3e27ffa3ad3_0_43"/>
          <p:cNvSpPr/>
          <p:nvPr/>
        </p:nvSpPr>
        <p:spPr>
          <a:xfrm>
            <a:off x="4619575" y="2708225"/>
            <a:ext cx="3818700" cy="1213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высокая стоимость 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не для российского рынка</a:t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96" name="Google Shape;296;g3e27ffa3ad3_0_43"/>
          <p:cNvCxnSpPr>
            <a:stCxn id="292" idx="3"/>
            <a:endCxn id="294" idx="1"/>
          </p:cNvCxnSpPr>
          <p:nvPr/>
        </p:nvCxnSpPr>
        <p:spPr>
          <a:xfrm flipH="1" rot="10800000">
            <a:off x="2900100" y="1609550"/>
            <a:ext cx="1974600" cy="86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" name="Google Shape;297;g3e27ffa3ad3_0_43"/>
          <p:cNvCxnSpPr/>
          <p:nvPr/>
        </p:nvCxnSpPr>
        <p:spPr>
          <a:xfrm flipH="1" rot="10800000">
            <a:off x="2990500" y="3282275"/>
            <a:ext cx="1629000" cy="65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83f8d5ae5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Результаты экспериментов</a:t>
            </a:r>
            <a:endParaRPr/>
          </a:p>
        </p:txBody>
      </p:sp>
      <p:graphicFrame>
        <p:nvGraphicFramePr>
          <p:cNvPr id="304" name="Google Shape;304;g3d83f8d5ae5_0_0"/>
          <p:cNvGraphicFramePr/>
          <p:nvPr/>
        </p:nvGraphicFramePr>
        <p:xfrm>
          <a:off x="1709613" y="1285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{6E612FAE-CEC3-4C75-8463-C2C06F3AB0DF}</a:tableStyleId>
              </a:tblPr>
              <a:tblGrid>
                <a:gridCol w="2563625"/>
                <a:gridCol w="1128250"/>
                <a:gridCol w="1128250"/>
                <a:gridCol w="1128250"/>
              </a:tblGrid>
              <a:tr h="5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Эксперимент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precision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recall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F1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Базовая модель, без новостей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0.48</a:t>
                      </a:r>
                      <a:endParaRPr sz="12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 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0.17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0.24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7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Б</a:t>
                      </a:r>
                      <a:r>
                        <a:rPr lang="ru-RU" sz="1200"/>
                        <a:t>алансировка классов, без новостей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0.48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0.50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0.49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Б</a:t>
                      </a:r>
                      <a:r>
                        <a:rPr lang="ru-RU" sz="1200"/>
                        <a:t>алансировка классов, сентимент (на правилах)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0.51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0.68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0.58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Б</a:t>
                      </a:r>
                      <a:r>
                        <a:rPr lang="ru-RU" sz="1200"/>
                        <a:t>алансировка классов, сентимент (ruBERT)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0.50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0.76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0.61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5" name="Google Shape;305;g3d83f8d5ae5_0_0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8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871475868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Построение моделей</a:t>
            </a:r>
            <a:endParaRPr/>
          </a:p>
        </p:txBody>
      </p:sp>
      <p:sp>
        <p:nvSpPr>
          <p:cNvPr id="312" name="Google Shape;312;g3d871475868_0_0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ru-RU"/>
              <a:t>базовый алгоритм - </a:t>
            </a:r>
            <a:r>
              <a:rPr lang="ru-RU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Random Forest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сентимент</a:t>
            </a:r>
            <a:r>
              <a:rPr lang="ru-RU"/>
              <a:t> - на правилах, ruBERT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/>
              <a:t>гиперпараметры: окно агрегации новостей, горизонт прогнозирования, выбор данных для обучения (только рынок/рынок+новости)</a:t>
            </a:r>
            <a:endParaRPr/>
          </a:p>
        </p:txBody>
      </p:sp>
      <p:sp>
        <p:nvSpPr>
          <p:cNvPr id="313" name="Google Shape;313;g3d871475868_0_0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7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8ef052661_0_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Постановка ML задачи</a:t>
            </a:r>
            <a:endParaRPr/>
          </a:p>
        </p:txBody>
      </p:sp>
      <p:sp>
        <p:nvSpPr>
          <p:cNvPr id="320" name="Google Shape;320;g3b8ef052661_0_6"/>
          <p:cNvSpPr/>
          <p:nvPr/>
        </p:nvSpPr>
        <p:spPr>
          <a:xfrm>
            <a:off x="1212390" y="2272823"/>
            <a:ext cx="2224500" cy="1379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50" lIns="83250" spcFirstLastPara="1" rIns="83250" wrap="square" tIns="83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lang="ru-RU" sz="2021">
                <a:latin typeface="Golos Text"/>
                <a:ea typeface="Golos Text"/>
                <a:cs typeface="Golos Text"/>
                <a:sym typeface="Golos Text"/>
              </a:rPr>
              <a:t>Новости,</a:t>
            </a:r>
            <a:endParaRPr sz="2021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lang="ru-RU" sz="2021">
                <a:latin typeface="Golos Text"/>
                <a:ea typeface="Golos Text"/>
                <a:cs typeface="Golos Text"/>
                <a:sym typeface="Golos Text"/>
              </a:rPr>
              <a:t>Котировки акций</a:t>
            </a:r>
            <a:endParaRPr sz="202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21" name="Google Shape;321;g3b8ef052661_0_6"/>
          <p:cNvSpPr/>
          <p:nvPr/>
        </p:nvSpPr>
        <p:spPr>
          <a:xfrm>
            <a:off x="5601800" y="2272825"/>
            <a:ext cx="2329800" cy="137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50" lIns="83250" spcFirstLastPara="1" rIns="83250" wrap="square" tIns="83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lang="ru-RU" sz="2021">
                <a:latin typeface="Golos Text"/>
                <a:ea typeface="Golos Text"/>
                <a:cs typeface="Golos Text"/>
                <a:sym typeface="Golos Text"/>
              </a:rPr>
              <a:t>Рост/не рост</a:t>
            </a:r>
            <a:endParaRPr sz="2021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lang="ru-RU" sz="2021">
                <a:latin typeface="Golos Text"/>
                <a:ea typeface="Golos Text"/>
                <a:cs typeface="Golos Text"/>
                <a:sym typeface="Golos Text"/>
              </a:rPr>
              <a:t>(вероятность роста)</a:t>
            </a:r>
            <a:endParaRPr sz="2021"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322" name="Google Shape;322;g3b8ef052661_0_6"/>
          <p:cNvCxnSpPr>
            <a:stCxn id="320" idx="3"/>
            <a:endCxn id="321" idx="1"/>
          </p:cNvCxnSpPr>
          <p:nvPr/>
        </p:nvCxnSpPr>
        <p:spPr>
          <a:xfrm>
            <a:off x="3436890" y="2962673"/>
            <a:ext cx="2164800" cy="0"/>
          </a:xfrm>
          <a:prstGeom prst="straightConnector1">
            <a:avLst/>
          </a:prstGeom>
          <a:noFill/>
          <a:ln cap="flat" cmpd="sng" w="347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3" name="Google Shape;323;g3b8ef052661_0_6"/>
          <p:cNvSpPr txBox="1"/>
          <p:nvPr/>
        </p:nvSpPr>
        <p:spPr>
          <a:xfrm>
            <a:off x="1727856" y="1544015"/>
            <a:ext cx="11934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83250" lIns="83250" spcFirstLastPara="1" rIns="83250" wrap="square" tIns="83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1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24" name="Google Shape;324;g3b8ef052661_0_6"/>
          <p:cNvSpPr/>
          <p:nvPr/>
        </p:nvSpPr>
        <p:spPr>
          <a:xfrm>
            <a:off x="1727867" y="1490975"/>
            <a:ext cx="1193400" cy="681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50" lIns="83250" spcFirstLastPara="1" rIns="83250" wrap="square" tIns="83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rPr lang="ru-RU" sz="2012">
                <a:latin typeface="Golos Text"/>
                <a:ea typeface="Golos Text"/>
                <a:cs typeface="Golos Text"/>
                <a:sym typeface="Golos Text"/>
              </a:rPr>
              <a:t>Вход</a:t>
            </a:r>
            <a:endParaRPr i="0" sz="2012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25" name="Google Shape;325;g3b8ef052661_0_6"/>
          <p:cNvSpPr/>
          <p:nvPr/>
        </p:nvSpPr>
        <p:spPr>
          <a:xfrm>
            <a:off x="6117278" y="1490975"/>
            <a:ext cx="1193400" cy="681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50" lIns="83250" spcFirstLastPara="1" rIns="83250" wrap="square" tIns="83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rPr lang="ru-RU" sz="2012">
                <a:latin typeface="Golos Text"/>
                <a:ea typeface="Golos Text"/>
                <a:cs typeface="Golos Text"/>
                <a:sym typeface="Golos Text"/>
              </a:rPr>
              <a:t>Выход</a:t>
            </a:r>
            <a:endParaRPr i="0" sz="2012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26" name="Google Shape;326;g3b8ef052661_0_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8d50d3210_0_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Актуальность</a:t>
            </a:r>
            <a:endParaRPr/>
          </a:p>
        </p:txBody>
      </p:sp>
      <p:sp>
        <p:nvSpPr>
          <p:cNvPr id="332" name="Google Shape;332;g3b8d50d3210_0_1"/>
          <p:cNvSpPr txBox="1"/>
          <p:nvPr/>
        </p:nvSpPr>
        <p:spPr>
          <a:xfrm>
            <a:off x="457200" y="1196550"/>
            <a:ext cx="7418400" cy="3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olos Text"/>
              <a:buChar char="●"/>
            </a:pPr>
            <a:r>
              <a:rPr lang="ru-RU" sz="1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Ручной анализ новостей становится неэффективным из-за объёмов и скорости информации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238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olos Text"/>
              <a:buChar char="●"/>
            </a:pPr>
            <a:r>
              <a:rPr lang="ru-RU" sz="1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Методы NLP и ML позволяют автоматизировать обработку текстов и выявлять скрытые закономерности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238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olos Text"/>
              <a:buChar char="●"/>
            </a:pPr>
            <a:r>
              <a:rPr lang="ru-RU" sz="1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Требуется разработка открытого и специализированного решения для российского фондового рынка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33" name="Google Shape;333;g3b8d50d3210_0_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b8ef052661_0_1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Предобработка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0" name="Google Shape;340;g3b8ef052661_0_18"/>
          <p:cNvSpPr txBox="1"/>
          <p:nvPr>
            <p:ph idx="1" type="body"/>
          </p:nvPr>
        </p:nvSpPr>
        <p:spPr>
          <a:xfrm>
            <a:off x="508000" y="1792275"/>
            <a:ext cx="3635700" cy="317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удаление дубликатов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нормализация формата времени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фильтрация по компаниям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токенизация, </a:t>
            </a:r>
            <a:r>
              <a:rPr lang="ru-RU" sz="1600"/>
              <a:t>лемматизация </a:t>
            </a:r>
            <a:endParaRPr sz="1600"/>
          </a:p>
        </p:txBody>
      </p:sp>
      <p:sp>
        <p:nvSpPr>
          <p:cNvPr id="341" name="Google Shape;341;g3b8ef052661_0_18"/>
          <p:cNvSpPr txBox="1"/>
          <p:nvPr>
            <p:ph idx="2" type="body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ru-RU" sz="2000" u="none"/>
              <a:t>Для новостей</a:t>
            </a:r>
            <a:endParaRPr sz="2000" u="none"/>
          </a:p>
        </p:txBody>
      </p:sp>
      <p:sp>
        <p:nvSpPr>
          <p:cNvPr id="342" name="Google Shape;342;g3b8ef052661_0_18"/>
          <p:cNvSpPr txBox="1"/>
          <p:nvPr>
            <p:ph idx="3" type="body"/>
          </p:nvPr>
        </p:nvSpPr>
        <p:spPr>
          <a:xfrm>
            <a:off x="4970050" y="1792275"/>
            <a:ext cx="3887700" cy="183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проверка пропусков и выравнивание по датам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сглаживание и очистка выбросов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нормализация формата времени</a:t>
            </a:r>
            <a:endParaRPr sz="1600"/>
          </a:p>
        </p:txBody>
      </p:sp>
      <p:sp>
        <p:nvSpPr>
          <p:cNvPr id="343" name="Google Shape;343;g3b8ef052661_0_18"/>
          <p:cNvSpPr txBox="1"/>
          <p:nvPr>
            <p:ph idx="4" type="body"/>
          </p:nvPr>
        </p:nvSpPr>
        <p:spPr>
          <a:xfrm>
            <a:off x="4970046" y="1182459"/>
            <a:ext cx="2961000" cy="59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ru-RU" sz="2000" u="none"/>
              <a:t>Для котировок</a:t>
            </a:r>
            <a:endParaRPr sz="2000" u="none"/>
          </a:p>
        </p:txBody>
      </p:sp>
      <p:sp>
        <p:nvSpPr>
          <p:cNvPr id="344" name="Google Shape;344;g3b8ef052661_0_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8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8ef052661_1_1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Границы исследования</a:t>
            </a:r>
            <a:endParaRPr/>
          </a:p>
        </p:txBody>
      </p:sp>
      <p:sp>
        <p:nvSpPr>
          <p:cNvPr id="351" name="Google Shape;351;g3b8ef052661_1_13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Объект исследования: акции российских компаний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Горизонт прогноза: T+1 день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Реакция рынка: задержка 1–3 дня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Источники данных: GNews / MOEX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Не рассматривается: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⛔ инсайдерская информация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⛔ прогнозирование на больших горизонтах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⛔ макроэкономические индикаторы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⛔ социальные сети / twitter / sentiment трейдинг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8ef052661_0_2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Итоговый датасет</a:t>
            </a:r>
            <a:endParaRPr/>
          </a:p>
        </p:txBody>
      </p:sp>
      <p:sp>
        <p:nvSpPr>
          <p:cNvPr id="358" name="Google Shape;358;g3b8ef052661_0_24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400"/>
              <a:t>Процедура: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Golos Text"/>
              <a:buAutoNum type="arabicPeriod"/>
            </a:pPr>
            <a:r>
              <a:rPr lang="ru-RU" sz="1400"/>
              <a:t>Привязка новостей к тикеру компании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AutoNum type="arabicPeriod"/>
            </a:pPr>
            <a:r>
              <a:rPr lang="ru-RU" sz="1400"/>
              <a:t>Привязка времени публикации к торговому дню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AutoNum type="arabicPeriod"/>
            </a:pPr>
            <a:r>
              <a:rPr lang="ru-RU" sz="1400"/>
              <a:t>Выбор окна реакции рынка (1–3 дня)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AutoNum type="arabicPeriod"/>
            </a:pPr>
            <a:r>
              <a:rPr lang="ru-RU" sz="1400"/>
              <a:t>Формирование обучающих признаков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AutoNum type="arabicPeriod"/>
            </a:pPr>
            <a:r>
              <a:rPr lang="ru-RU" sz="1400"/>
              <a:t>Подготовка целевой переменной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9" name="Google Shape;359;g3b8ef052661_0_24"/>
          <p:cNvPicPr preferRelativeResize="0"/>
          <p:nvPr/>
        </p:nvPicPr>
        <p:blipFill rotWithShape="1">
          <a:blip r:embed="rId3">
            <a:alphaModFix/>
          </a:blip>
          <a:srcRect b="35860" l="0" r="0" t="27384"/>
          <a:stretch/>
        </p:blipFill>
        <p:spPr>
          <a:xfrm>
            <a:off x="714375" y="2764275"/>
            <a:ext cx="7715251" cy="18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937c34cdc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Выбор модели</a:t>
            </a:r>
            <a:endParaRPr/>
          </a:p>
        </p:txBody>
      </p:sp>
      <p:sp>
        <p:nvSpPr>
          <p:cNvPr id="366" name="Google Shape;366;g3b937c34cdc_0_0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7" name="Google Shape;367;g3b937c34cd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699" y="874350"/>
            <a:ext cx="6870200" cy="406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