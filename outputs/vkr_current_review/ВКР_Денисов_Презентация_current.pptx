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Golos Text"/>
      <p:regular r:id="rId35"/>
      <p:bold r:id="rId36"/>
    </p:embeddedFont>
    <p:embeddedFont>
      <p:font typeface="Golos Text SemiBold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iW0vAQ8mySopkYf+4LOA3x/QXEe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Денисов Илья"/>
  <p:cmAuthor clrIdx="1" id="1" initials="" lastIdx="2" name="Anastasiia Chernyshev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C67C69-05ED-4769-9307-399D40E12A4A}">
  <a:tblStyle styleId="{C5C67C69-05ED-4769-9307-399D40E12A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GolosText-regular.fntdata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GolosTextSemiBold-regular.fntdata"/><Relationship Id="rId14" Type="http://schemas.openxmlformats.org/officeDocument/2006/relationships/slide" Target="slides/slide7.xml"/><Relationship Id="rId36" Type="http://schemas.openxmlformats.org/officeDocument/2006/relationships/font" Target="fonts/GolosText-bold.fntdata"/><Relationship Id="rId17" Type="http://schemas.openxmlformats.org/officeDocument/2006/relationships/slide" Target="slides/slide10.xml"/><Relationship Id="rId39" Type="http://customschemas.google.com/relationships/presentationmetadata" Target="metadata"/><Relationship Id="rId16" Type="http://schemas.openxmlformats.org/officeDocument/2006/relationships/slide" Target="slides/slide9.xml"/><Relationship Id="rId38" Type="http://schemas.openxmlformats.org/officeDocument/2006/relationships/font" Target="fonts/GolosTextSemiBold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29T09:09:31.818">
    <p:pos x="6000" y="0"/>
    <p:text>табличка для лучшего алгоритма при разных условиях - как влияет добавление новостных данных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8SeCPbc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5-29T09:08:48.778">
    <p:pos x="6000" y="0"/>
    <p:text>тут должна быть диаграмма с результатами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8SeCPbQ"/>
      </p:ext>
    </p:extLst>
  </p:cm>
  <p:cm authorId="0" idx="3" dt="2026-05-29T09:08:48.778">
    <p:pos x="6000" y="0"/>
    <p:text>можно одну диаграмму для классификации - одну для регрессии</p:text>
    <p:extLst>
      <p:ext uri="{C676402C-5697-4E1C-873F-D02D1690AC5C}">
        <p15:threadingInfo timeZoneBias="0">
          <p15:parentCm authorId="0" idx="2"/>
        </p15:threadingInfo>
      </p:ext>
      <p:ext uri="http://customooxmlschemas.google.com/">
        <go:slidesCustomData xmlns:go="http://customooxmlschemas.google.com/" commentPostId="AAAB8SeCPbY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6-04-22T18:06:18.143">
    <p:pos x="287" y="655"/>
    <p:text>а почему на правилах, если есть много предобученных моделей?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3_NzCd0"/>
      </p:ext>
    </p:extLst>
  </p:cm>
  <p:cm authorId="1" idx="2" dt="2026-04-22T18:07:34.024">
    <p:pos x="287" y="755"/>
    <p:text>а бустинги не пробовали? типа catboost?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3_NzCd8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1cf2e9a2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91cf2e9a2d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32e64a61d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b32e64a61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b32e64a61d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1cf2e9a2d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91cf2e9a2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91cf2e9a2d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8d50d3210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b8d50d321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b8d50d3210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8ef052661_1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8ef052661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b8ef052661_1_7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27ffa3ad3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27ffa3ad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e27ffa3ad3_0_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56f79abe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56f79ab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e56f79abee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27ffa3ad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27ffa3a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e27ffa3ad3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5eaa42ac1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e5eaa42ac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e5eaa42ac1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5eaa42ac1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5eaa42ac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e5eaa42ac1_0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490387d3b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e490387d3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e490387d3b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1cf2e9a2d_0_3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91cf2e9a2d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g391cf2e9a2d_0_3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4a6605a2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e4a6605a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e4a6605a23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5eaa42ac1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e5eaa42ac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e5eaa42ac1_0_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8ef052661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b8ef05266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b8ef052661_0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d83f8d5ae5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d83f8d5ae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d83f8d5ae5_0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27ffa3ad3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e27ffa3ad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e27ffa3ad3_0_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27ffa3ad3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e27ffa3ad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g3e27ffa3ad3_0_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d83f8d5ae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d83f8d5a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d83f8d5ae5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87147586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d8714758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d871475868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8ef052661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b8ef05266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b8ef052661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b8d50d321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g3b8d50d3210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8ef052661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b8ef05266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b8ef052661_0_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b8ef052661_1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b8ef052661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b8ef052661_1_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b8ef052661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b8ef05266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b8ef052661_0_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b937c34cd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b937c34c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b937c34cdc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37" name="Google Shape;37;p1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4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62" name="Google Shape;62;p24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63" name="Google Shape;63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5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9" name="Google Shape;69;p25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0" name="Google Shape;70;p2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2" name="Google Shape;72;p25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73" name="Google Shape;73;p25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74" name="Google Shape;74;p25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  <p:sp>
        <p:nvSpPr>
          <p:cNvPr id="75" name="Google Shape;75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6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80" name="Google Shape;80;p26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81" name="Google Shape;81;p26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82" name="Google Shape;82;p26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83" name="Google Shape;83;p26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  <p:sp>
        <p:nvSpPr>
          <p:cNvPr id="84" name="Google Shape;84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7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7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7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91" name="Google Shape;91;p27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92" name="Google Shape;92;p27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93" name="Google Shape;93;p27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7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7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27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97" name="Google Shape;97;p27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98" name="Google Shape;98;p27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  <p:sp>
        <p:nvSpPr>
          <p:cNvPr id="99" name="Google Shape;99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9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29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9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9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2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0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0" name="Google Shape;110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1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3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2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118" name="Google Shape;118;p32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3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3" name="Google Shape;123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4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34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4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34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3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5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134" name="Google Shape;134;p35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6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9" name="Google Shape;139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7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37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37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37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8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38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51" name="Google Shape;151;p38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52" name="Google Shape;152;p38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53" name="Google Shape;153;p38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54" name="Google Shape;15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1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omments" Target="../comments/comment2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comments" Target="../comments/comment3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1cf2e9a2d_0_14"/>
          <p:cNvSpPr txBox="1"/>
          <p:nvPr>
            <p:ph type="title"/>
          </p:nvPr>
        </p:nvSpPr>
        <p:spPr>
          <a:xfrm>
            <a:off x="759600" y="1895775"/>
            <a:ext cx="7624800" cy="16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5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Разработка программной системы анализа влияния новостных данных на динамику цен акций российского фондового рынка с применением методов машинного обучения</a:t>
            </a:r>
            <a:endParaRPr sz="250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0" name="Google Shape;160;g391cf2e9a2d_0_14"/>
          <p:cNvSpPr txBox="1"/>
          <p:nvPr/>
        </p:nvSpPr>
        <p:spPr>
          <a:xfrm>
            <a:off x="2319425" y="4038600"/>
            <a:ext cx="64728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Студент:</a:t>
            </a:r>
            <a:r>
              <a:rPr b="0" i="0" lang="ru-RU" sz="15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ru-RU" sz="15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Денисов Илья Алексеевич</a:t>
            </a:r>
            <a:r>
              <a:rPr b="0" i="0" lang="ru-RU" sz="15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, К342</a:t>
            </a:r>
            <a:r>
              <a:rPr lang="ru-RU" sz="15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 sz="1500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Научный руководитель:</a:t>
            </a:r>
            <a:r>
              <a:rPr b="1" lang="ru-RU" sz="15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ru-RU" sz="15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Чернышева Анастасия Вадимовна, ФПИн</a:t>
            </a:r>
            <a:endParaRPr b="0" i="0" sz="15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32e64a61d_0_7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Предметная область и решение</a:t>
            </a:r>
            <a:endParaRPr/>
          </a:p>
        </p:txBody>
      </p:sp>
      <p:sp>
        <p:nvSpPr>
          <p:cNvPr id="167" name="Google Shape;167;g3b32e64a61d_0_7"/>
          <p:cNvSpPr/>
          <p:nvPr/>
        </p:nvSpPr>
        <p:spPr>
          <a:xfrm>
            <a:off x="5455200" y="1976700"/>
            <a:ext cx="3384000" cy="2766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❏"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прогнозирование роста цен по новостям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❏"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российский рынок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❏"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открытый код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8" name="Google Shape;168;g3b32e64a61d_0_7"/>
          <p:cNvSpPr/>
          <p:nvPr/>
        </p:nvSpPr>
        <p:spPr>
          <a:xfrm>
            <a:off x="5600400" y="1031013"/>
            <a:ext cx="3093600" cy="74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-RU" sz="2000">
                <a:latin typeface="Golos Text"/>
                <a:ea typeface="Golos Text"/>
                <a:cs typeface="Golos Text"/>
                <a:sym typeface="Golos Text"/>
              </a:rPr>
              <a:t>Решение</a:t>
            </a:r>
            <a:endParaRPr i="0" sz="20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9" name="Google Shape;169;g3b32e64a61d_0_7"/>
          <p:cNvSpPr txBox="1"/>
          <p:nvPr/>
        </p:nvSpPr>
        <p:spPr>
          <a:xfrm>
            <a:off x="8839200" y="4743300"/>
            <a:ext cx="30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b32e64a61d_0_7"/>
          <p:cNvSpPr/>
          <p:nvPr/>
        </p:nvSpPr>
        <p:spPr>
          <a:xfrm>
            <a:off x="681575" y="1976700"/>
            <a:ext cx="3384000" cy="27666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❏"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новостной шок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❏"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рынок акций реагирует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❏"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нужен ML, чтобы анализировать большой массив данных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❏"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на РФ рынке нет подобных инструментов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1" name="Google Shape;171;g3b32e64a61d_0_7"/>
          <p:cNvSpPr/>
          <p:nvPr/>
        </p:nvSpPr>
        <p:spPr>
          <a:xfrm>
            <a:off x="826775" y="1031013"/>
            <a:ext cx="3093600" cy="74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-RU" sz="2000">
                <a:latin typeface="Golos Text"/>
                <a:ea typeface="Golos Text"/>
                <a:cs typeface="Golos Text"/>
                <a:sym typeface="Golos Text"/>
              </a:rPr>
              <a:t>Предметная область</a:t>
            </a:r>
            <a:endParaRPr i="0" sz="20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172" name="Google Shape;172;g3b32e64a61d_0_7"/>
          <p:cNvCxnSpPr>
            <a:stCxn id="170" idx="3"/>
            <a:endCxn id="167" idx="1"/>
          </p:cNvCxnSpPr>
          <p:nvPr/>
        </p:nvCxnSpPr>
        <p:spPr>
          <a:xfrm>
            <a:off x="4065575" y="3360000"/>
            <a:ext cx="13896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1cf2e9a2d_0_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Аналоги</a:t>
            </a:r>
            <a:endParaRPr/>
          </a:p>
        </p:txBody>
      </p:sp>
      <p:sp>
        <p:nvSpPr>
          <p:cNvPr id="179" name="Google Shape;179;g391cf2e9a2d_0_8"/>
          <p:cNvSpPr txBox="1"/>
          <p:nvPr/>
        </p:nvSpPr>
        <p:spPr>
          <a:xfrm>
            <a:off x="8839200" y="4743300"/>
            <a:ext cx="30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0" name="Google Shape;180;g391cf2e9a2d_0_8"/>
          <p:cNvGraphicFramePr/>
          <p:nvPr/>
        </p:nvGraphicFramePr>
        <p:xfrm>
          <a:off x="639700" y="1460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{C5C67C69-05ED-4769-9307-399D40E12A4A}</a:tableStyleId>
              </a:tblPr>
              <a:tblGrid>
                <a:gridCol w="1914650"/>
                <a:gridCol w="1368425"/>
                <a:gridCol w="1644375"/>
                <a:gridCol w="1269125"/>
                <a:gridCol w="1668025"/>
              </a:tblGrid>
              <a:tr h="503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Система</a:t>
                      </a:r>
                      <a:endParaRPr b="1"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Анализ новостей</a:t>
                      </a:r>
                      <a:endParaRPr b="1"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Прогнозирование</a:t>
                      </a:r>
                      <a:endParaRPr b="1"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Российский рынок</a:t>
                      </a:r>
                      <a:endParaRPr b="1"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Открытость</a:t>
                      </a:r>
                      <a:endParaRPr b="1"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RavenPack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-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Закрытая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StockPulse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-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Закрытая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Finam AI-скринер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+- (без прогнозирования)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Закрытая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Разрабатываемая система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+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Открытая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8d50d3210_0_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Цель и задачи</a:t>
            </a:r>
            <a:endParaRPr/>
          </a:p>
        </p:txBody>
      </p:sp>
      <p:sp>
        <p:nvSpPr>
          <p:cNvPr id="187" name="Google Shape;187;g3b8d50d3210_0_8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500"/>
              <a:t>Цель: </a:t>
            </a:r>
            <a:r>
              <a:rPr lang="ru-RU" sz="1500"/>
              <a:t>разработка</a:t>
            </a:r>
            <a:r>
              <a:rPr lang="ru-RU" sz="1500"/>
              <a:t> программной системы анализа влияния новостного потока на краткосрочную динамику цен акций российского фондового рынка.</a:t>
            </a:r>
            <a:endParaRPr b="1" sz="1500"/>
          </a:p>
          <a:p>
            <a:pPr indent="4572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500"/>
              <a:t>Задачи:</a:t>
            </a:r>
            <a:endParaRPr b="1" sz="1500"/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Golos Text"/>
              <a:buAutoNum type="arabicParenR"/>
            </a:pPr>
            <a:r>
              <a:rPr lang="ru-RU" sz="1500"/>
              <a:t>Анализ подходов и решений в области новостного анализа финансовых рынков</a:t>
            </a:r>
            <a:endParaRPr sz="1500"/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Golos Text"/>
              <a:buAutoNum type="arabicParenR"/>
            </a:pPr>
            <a:r>
              <a:rPr lang="ru-RU" sz="1500"/>
              <a:t>Формирование датасета, включающего новостную информацию и исторические котировки акций</a:t>
            </a:r>
            <a:endParaRPr sz="1500"/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Golos Text"/>
              <a:buAutoNum type="arabicParenR"/>
            </a:pPr>
            <a:r>
              <a:rPr lang="ru-RU" sz="1500"/>
              <a:t>Разработка моделей прогнозирования направления цены, учитывающ</a:t>
            </a:r>
            <a:r>
              <a:rPr lang="ru-RU" sz="1500"/>
              <a:t>ей</a:t>
            </a:r>
            <a:r>
              <a:rPr lang="ru-RU" sz="1500"/>
              <a:t> новостной фон</a:t>
            </a:r>
            <a:endParaRPr sz="1500"/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Golos Text"/>
              <a:buAutoNum type="arabicParenR"/>
            </a:pPr>
            <a:r>
              <a:rPr lang="ru-RU" sz="1500"/>
              <a:t>Экспериментальная оценка качества и сравнение моделей</a:t>
            </a:r>
            <a:endParaRPr sz="1500"/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ru-RU" sz="1500"/>
              <a:t>Разработка интерфейса системы </a:t>
            </a:r>
            <a:endParaRPr sz="1500"/>
          </a:p>
        </p:txBody>
      </p:sp>
      <p:sp>
        <p:nvSpPr>
          <p:cNvPr id="188" name="Google Shape;188;g3b8d50d3210_0_8"/>
          <p:cNvSpPr txBox="1"/>
          <p:nvPr/>
        </p:nvSpPr>
        <p:spPr>
          <a:xfrm>
            <a:off x="8784000" y="4725600"/>
            <a:ext cx="3375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075" lIns="101075" spcFirstLastPara="1" rIns="101075" wrap="square" tIns="101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 b="0" i="0" sz="154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8ef052661_1_71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Архитектура решения</a:t>
            </a:r>
            <a:endParaRPr/>
          </a:p>
        </p:txBody>
      </p:sp>
      <p:sp>
        <p:nvSpPr>
          <p:cNvPr id="195" name="Google Shape;195;g3b8ef052661_1_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5</a:t>
            </a:r>
            <a:endParaRPr/>
          </a:p>
        </p:txBody>
      </p:sp>
      <p:pic>
        <p:nvPicPr>
          <p:cNvPr id="196" name="Google Shape;196;g3b8ef052661_1_71" title="архитектура диплом.drawio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144" y="833825"/>
            <a:ext cx="7192655" cy="40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27ffa3ad3_0_2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Структура кода получения данных</a:t>
            </a:r>
            <a:endParaRPr/>
          </a:p>
        </p:txBody>
      </p:sp>
      <p:sp>
        <p:nvSpPr>
          <p:cNvPr id="203" name="Google Shape;203;g3e27ffa3ad3_0_20"/>
          <p:cNvSpPr txBox="1"/>
          <p:nvPr>
            <p:ph idx="1" type="body"/>
          </p:nvPr>
        </p:nvSpPr>
        <p:spPr>
          <a:xfrm>
            <a:off x="6363000" y="986225"/>
            <a:ext cx="2781000" cy="373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Котировки:</a:t>
            </a:r>
            <a:endParaRPr sz="1600"/>
          </a:p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класс MarketDataLoader;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получение через API MOEX candles().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Новости:</a:t>
            </a:r>
            <a:endParaRPr sz="1600"/>
          </a:p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А</a:t>
            </a:r>
            <a:r>
              <a:rPr lang="ru-RU" sz="1600"/>
              <a:t>бстрактный класс BaseNewsParser;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Источники – дочерние классы;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Единый формат записей.</a:t>
            </a:r>
            <a:endParaRPr sz="1600"/>
          </a:p>
        </p:txBody>
      </p:sp>
      <p:sp>
        <p:nvSpPr>
          <p:cNvPr id="204" name="Google Shape;204;g3e27ffa3ad3_0_20"/>
          <p:cNvSpPr txBox="1"/>
          <p:nvPr/>
        </p:nvSpPr>
        <p:spPr>
          <a:xfrm>
            <a:off x="6144000" y="47586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7</a:t>
            </a:r>
            <a:endParaRPr/>
          </a:p>
        </p:txBody>
      </p:sp>
      <p:pic>
        <p:nvPicPr>
          <p:cNvPr id="205" name="Google Shape;205;g3e27ffa3ad3_0_20" title="классы диплом.drawio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951735"/>
            <a:ext cx="6058200" cy="324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56f79abee_0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Новостные признаки</a:t>
            </a:r>
            <a:endParaRPr/>
          </a:p>
        </p:txBody>
      </p:sp>
      <p:sp>
        <p:nvSpPr>
          <p:cNvPr id="212" name="Google Shape;212;g3e56f79abee_0_0"/>
          <p:cNvSpPr txBox="1"/>
          <p:nvPr>
            <p:ph idx="1" type="body"/>
          </p:nvPr>
        </p:nvSpPr>
        <p:spPr>
          <a:xfrm>
            <a:off x="4562475" y="1969575"/>
            <a:ext cx="4143300" cy="183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Из текстов извлекаются: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600"/>
              <a:buAutoNum type="arabicPeriod"/>
            </a:pPr>
            <a:r>
              <a:rPr lang="ru-RU" sz="1600"/>
              <a:t>Количественные признаки (число новостей за промежуток времени)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-RU" sz="1600"/>
              <a:t>Сентимент (rubet-tiny2)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-RU" sz="1600"/>
              <a:t>Векторное представление (rubert-base-cased-sentence)</a:t>
            </a:r>
            <a:endParaRPr sz="1600"/>
          </a:p>
        </p:txBody>
      </p:sp>
      <p:sp>
        <p:nvSpPr>
          <p:cNvPr id="213" name="Google Shape;213;g3e56f79abee_0_0"/>
          <p:cNvSpPr/>
          <p:nvPr/>
        </p:nvSpPr>
        <p:spPr>
          <a:xfrm>
            <a:off x="853050" y="1040775"/>
            <a:ext cx="3351600" cy="527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-RU" sz="1800">
                <a:latin typeface="Golos Text"/>
                <a:ea typeface="Golos Text"/>
                <a:cs typeface="Golos Text"/>
                <a:sym typeface="Golos Text"/>
              </a:rPr>
              <a:t>Тексты новостей</a:t>
            </a:r>
            <a:endParaRPr i="0" sz="18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14" name="Google Shape;214;g3e56f79abee_0_0"/>
          <p:cNvSpPr/>
          <p:nvPr/>
        </p:nvSpPr>
        <p:spPr>
          <a:xfrm>
            <a:off x="853050" y="3182625"/>
            <a:ext cx="3351600" cy="564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-RU" sz="1800">
                <a:latin typeface="Golos Text"/>
                <a:ea typeface="Golos Text"/>
                <a:cs typeface="Golos Text"/>
                <a:sym typeface="Golos Text"/>
              </a:rPr>
              <a:t>Числовые признаки</a:t>
            </a:r>
            <a:endParaRPr i="0" sz="18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15" name="Google Shape;215;g3e56f79abee_0_0"/>
          <p:cNvSpPr/>
          <p:nvPr/>
        </p:nvSpPr>
        <p:spPr>
          <a:xfrm>
            <a:off x="853050" y="1969647"/>
            <a:ext cx="3351600" cy="811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-RU" sz="1800">
                <a:latin typeface="Golos Text"/>
                <a:ea typeface="Golos Text"/>
                <a:cs typeface="Golos Text"/>
                <a:sym typeface="Golos Text"/>
              </a:rPr>
              <a:t>Фильтрация по тикерам и времени</a:t>
            </a:r>
            <a:endParaRPr i="0" sz="18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216" name="Google Shape;216;g3e56f79abee_0_0"/>
          <p:cNvCxnSpPr>
            <a:stCxn id="213" idx="2"/>
            <a:endCxn id="215" idx="0"/>
          </p:cNvCxnSpPr>
          <p:nvPr/>
        </p:nvCxnSpPr>
        <p:spPr>
          <a:xfrm>
            <a:off x="2528850" y="1568175"/>
            <a:ext cx="0" cy="401400"/>
          </a:xfrm>
          <a:prstGeom prst="straightConnector1">
            <a:avLst/>
          </a:prstGeom>
          <a:noFill/>
          <a:ln cap="flat" cmpd="sng" w="9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g3e56f79abee_0_0"/>
          <p:cNvCxnSpPr>
            <a:stCxn id="215" idx="2"/>
            <a:endCxn id="214" idx="0"/>
          </p:cNvCxnSpPr>
          <p:nvPr/>
        </p:nvCxnSpPr>
        <p:spPr>
          <a:xfrm>
            <a:off x="2528850" y="2781147"/>
            <a:ext cx="0" cy="401400"/>
          </a:xfrm>
          <a:prstGeom prst="straightConnector1">
            <a:avLst/>
          </a:prstGeom>
          <a:noFill/>
          <a:ln cap="flat" cmpd="sng" w="9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g3e56f79abee_0_0"/>
          <p:cNvSpPr/>
          <p:nvPr/>
        </p:nvSpPr>
        <p:spPr>
          <a:xfrm>
            <a:off x="853050" y="4148100"/>
            <a:ext cx="3351600" cy="66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-RU" sz="1800">
                <a:latin typeface="Golos Text"/>
                <a:ea typeface="Golos Text"/>
                <a:cs typeface="Golos Text"/>
                <a:sym typeface="Golos Text"/>
              </a:rPr>
              <a:t>Сохранение</a:t>
            </a:r>
            <a:r>
              <a:rPr lang="ru-RU" sz="1800">
                <a:latin typeface="Golos Text"/>
                <a:ea typeface="Golos Text"/>
                <a:cs typeface="Golos Text"/>
                <a:sym typeface="Golos Text"/>
              </a:rPr>
              <a:t> в файл news_features.parquet</a:t>
            </a:r>
            <a:endParaRPr i="0" sz="18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219" name="Google Shape;219;g3e56f79abee_0_0"/>
          <p:cNvCxnSpPr>
            <a:stCxn id="214" idx="2"/>
            <a:endCxn id="218" idx="0"/>
          </p:cNvCxnSpPr>
          <p:nvPr/>
        </p:nvCxnSpPr>
        <p:spPr>
          <a:xfrm>
            <a:off x="2528850" y="3746625"/>
            <a:ext cx="0" cy="401400"/>
          </a:xfrm>
          <a:prstGeom prst="straightConnector1">
            <a:avLst/>
          </a:prstGeom>
          <a:noFill/>
          <a:ln cap="flat" cmpd="sng" w="9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27ffa3ad3_0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Построение моделей</a:t>
            </a:r>
            <a:endParaRPr/>
          </a:p>
        </p:txBody>
      </p:sp>
      <p:sp>
        <p:nvSpPr>
          <p:cNvPr id="226" name="Google Shape;226;g3e27ffa3ad3_0_0"/>
          <p:cNvSpPr txBox="1"/>
          <p:nvPr>
            <p:ph idx="1" type="body"/>
          </p:nvPr>
        </p:nvSpPr>
        <p:spPr>
          <a:xfrm>
            <a:off x="591825" y="1137275"/>
            <a:ext cx="3776400" cy="294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ru-RU" sz="1640"/>
              <a:t>Задачи:</a:t>
            </a:r>
            <a:endParaRPr sz="1640"/>
          </a:p>
          <a:p>
            <a:pPr indent="-33274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640"/>
              <a:buChar char="●"/>
            </a:pPr>
            <a:r>
              <a:rPr lang="ru-RU" sz="1640"/>
              <a:t>классификация (определение событий)</a:t>
            </a:r>
            <a:endParaRPr sz="1640"/>
          </a:p>
          <a:p>
            <a:pPr indent="-3327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40"/>
              <a:buChar char="●"/>
            </a:pPr>
            <a:r>
              <a:rPr lang="ru-RU" sz="1640"/>
              <a:t>регрессия (предсказание доходности)</a:t>
            </a:r>
            <a:endParaRPr sz="164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4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53"/>
              <a:buNone/>
            </a:pPr>
            <a:r>
              <a:rPr lang="ru-RU" sz="1640"/>
              <a:t>Ал</a:t>
            </a:r>
            <a:r>
              <a:rPr lang="ru-RU" sz="1640"/>
              <a:t>горитмы:</a:t>
            </a:r>
            <a:endParaRPr sz="1640"/>
          </a:p>
          <a:p>
            <a:pPr indent="-33274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640"/>
              <a:buChar char="●"/>
            </a:pPr>
            <a:r>
              <a:rPr lang="ru-RU" sz="1640"/>
              <a:t>Logistic Regression;</a:t>
            </a:r>
            <a:endParaRPr sz="1640"/>
          </a:p>
          <a:p>
            <a:pPr indent="-3327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40"/>
              <a:buChar char="●"/>
            </a:pPr>
            <a:r>
              <a:rPr lang="ru-RU" sz="1640"/>
              <a:t>ExtraTrees;</a:t>
            </a:r>
            <a:endParaRPr sz="1640"/>
          </a:p>
          <a:p>
            <a:pPr indent="-3327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40"/>
              <a:buChar char="●"/>
            </a:pPr>
            <a:r>
              <a:rPr lang="ru-RU" sz="1640"/>
              <a:t>CatBoost;</a:t>
            </a:r>
            <a:endParaRPr sz="1640"/>
          </a:p>
          <a:p>
            <a:pPr indent="-3327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40"/>
              <a:buChar char="●"/>
            </a:pPr>
            <a:r>
              <a:rPr lang="ru-RU" sz="1640"/>
              <a:t>HistGradientBoosting.</a:t>
            </a:r>
            <a:endParaRPr sz="1950"/>
          </a:p>
        </p:txBody>
      </p:sp>
      <p:sp>
        <p:nvSpPr>
          <p:cNvPr id="227" name="Google Shape;227;g3e27ffa3ad3_0_0"/>
          <p:cNvSpPr/>
          <p:nvPr/>
        </p:nvSpPr>
        <p:spPr>
          <a:xfrm>
            <a:off x="4610075" y="1137263"/>
            <a:ext cx="3885300" cy="57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5"/>
              <a:buFont typeface="Arial"/>
              <a:buNone/>
            </a:pPr>
            <a:r>
              <a:rPr lang="ru-RU" sz="1834">
                <a:latin typeface="Golos Text"/>
                <a:ea typeface="Golos Text"/>
                <a:cs typeface="Golos Text"/>
                <a:sym typeface="Golos Text"/>
              </a:rPr>
              <a:t>Новост</a:t>
            </a:r>
            <a:r>
              <a:rPr lang="ru-RU" sz="1834">
                <a:latin typeface="Golos Text"/>
                <a:ea typeface="Golos Text"/>
                <a:cs typeface="Golos Text"/>
                <a:sym typeface="Golos Text"/>
              </a:rPr>
              <a:t>и</a:t>
            </a:r>
            <a:r>
              <a:rPr lang="ru-RU" sz="1834">
                <a:latin typeface="Golos Text"/>
                <a:ea typeface="Golos Text"/>
                <a:cs typeface="Golos Text"/>
                <a:sym typeface="Golos Text"/>
              </a:rPr>
              <a:t> + котировки</a:t>
            </a:r>
            <a:endParaRPr sz="1834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28" name="Google Shape;228;g3e27ffa3ad3_0_0"/>
          <p:cNvSpPr/>
          <p:nvPr/>
        </p:nvSpPr>
        <p:spPr>
          <a:xfrm>
            <a:off x="4610195" y="2055944"/>
            <a:ext cx="3885300" cy="57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5"/>
              <a:buFont typeface="Arial"/>
              <a:buNone/>
            </a:pPr>
            <a:r>
              <a:t/>
            </a:r>
            <a:endParaRPr sz="1918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5"/>
              <a:buFont typeface="Arial"/>
              <a:buNone/>
            </a:pPr>
            <a:r>
              <a:rPr lang="ru-RU" sz="1834">
                <a:latin typeface="Golos Text"/>
                <a:ea typeface="Golos Text"/>
                <a:cs typeface="Golos Text"/>
                <a:sym typeface="Golos Text"/>
              </a:rPr>
              <a:t>Формирование признаков</a:t>
            </a:r>
            <a:endParaRPr sz="1834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8"/>
              <a:buFont typeface="Arial"/>
              <a:buNone/>
            </a:pPr>
            <a:r>
              <a:t/>
            </a:r>
            <a:endParaRPr sz="1918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29" name="Google Shape;229;g3e27ffa3ad3_0_0"/>
          <p:cNvSpPr/>
          <p:nvPr/>
        </p:nvSpPr>
        <p:spPr>
          <a:xfrm>
            <a:off x="4610195" y="2974625"/>
            <a:ext cx="3885300" cy="57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5"/>
              <a:buFont typeface="Arial"/>
              <a:buNone/>
            </a:pPr>
            <a:r>
              <a:rPr lang="ru-RU" sz="1834">
                <a:latin typeface="Golos Text"/>
                <a:ea typeface="Golos Text"/>
                <a:cs typeface="Golos Text"/>
                <a:sym typeface="Golos Text"/>
              </a:rPr>
              <a:t>Модели классификации и регрессии</a:t>
            </a:r>
            <a:endParaRPr sz="1834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30" name="Google Shape;230;g3e27ffa3ad3_0_0"/>
          <p:cNvSpPr/>
          <p:nvPr/>
        </p:nvSpPr>
        <p:spPr>
          <a:xfrm>
            <a:off x="4610195" y="3893307"/>
            <a:ext cx="3885300" cy="57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675" lIns="87675" spcFirstLastPara="1" rIns="87675" wrap="square" tIns="876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5"/>
              <a:buFont typeface="Arial"/>
              <a:buNone/>
            </a:pPr>
            <a:r>
              <a:rPr lang="ru-RU" sz="1818">
                <a:latin typeface="Golos Text"/>
                <a:ea typeface="Golos Text"/>
                <a:cs typeface="Golos Text"/>
                <a:sym typeface="Golos Text"/>
              </a:rPr>
              <a:t>Метрики качества</a:t>
            </a:r>
            <a:endParaRPr sz="1818"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231" name="Google Shape;231;g3e27ffa3ad3_0_0"/>
          <p:cNvCxnSpPr>
            <a:stCxn id="227" idx="2"/>
            <a:endCxn id="228" idx="0"/>
          </p:cNvCxnSpPr>
          <p:nvPr/>
        </p:nvCxnSpPr>
        <p:spPr>
          <a:xfrm>
            <a:off x="6552725" y="1715663"/>
            <a:ext cx="0" cy="340200"/>
          </a:xfrm>
          <a:prstGeom prst="straightConnector1">
            <a:avLst/>
          </a:prstGeom>
          <a:noFill/>
          <a:ln cap="flat" cmpd="sng" w="9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g3e27ffa3ad3_0_0"/>
          <p:cNvCxnSpPr>
            <a:stCxn id="228" idx="2"/>
            <a:endCxn id="229" idx="0"/>
          </p:cNvCxnSpPr>
          <p:nvPr/>
        </p:nvCxnSpPr>
        <p:spPr>
          <a:xfrm>
            <a:off x="6552845" y="2634344"/>
            <a:ext cx="0" cy="340200"/>
          </a:xfrm>
          <a:prstGeom prst="straightConnector1">
            <a:avLst/>
          </a:prstGeom>
          <a:noFill/>
          <a:ln cap="flat" cmpd="sng" w="9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g3e27ffa3ad3_0_0"/>
          <p:cNvCxnSpPr>
            <a:stCxn id="229" idx="2"/>
            <a:endCxn id="230" idx="0"/>
          </p:cNvCxnSpPr>
          <p:nvPr/>
        </p:nvCxnSpPr>
        <p:spPr>
          <a:xfrm>
            <a:off x="6552845" y="3553025"/>
            <a:ext cx="0" cy="340200"/>
          </a:xfrm>
          <a:prstGeom prst="straightConnector1">
            <a:avLst/>
          </a:prstGeom>
          <a:noFill/>
          <a:ln cap="flat" cmpd="sng" w="9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4" name="Google Shape;234;g3e27ffa3ad3_0_0"/>
          <p:cNvSpPr txBox="1"/>
          <p:nvPr/>
        </p:nvSpPr>
        <p:spPr>
          <a:xfrm>
            <a:off x="6144000" y="47751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8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5eaa42ac1_0_19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Предсказание событий</a:t>
            </a:r>
            <a:endParaRPr/>
          </a:p>
        </p:txBody>
      </p:sp>
      <p:sp>
        <p:nvSpPr>
          <p:cNvPr id="241" name="Google Shape;241;g3e5eaa42ac1_0_19"/>
          <p:cNvSpPr txBox="1"/>
          <p:nvPr/>
        </p:nvSpPr>
        <p:spPr>
          <a:xfrm>
            <a:off x="6144000" y="47751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9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42" name="Google Shape;242;g3e5eaa42ac1_0_19"/>
          <p:cNvPicPr preferRelativeResize="0"/>
          <p:nvPr/>
        </p:nvPicPr>
        <p:blipFill rotWithShape="1">
          <a:blip r:embed="rId3">
            <a:alphaModFix/>
          </a:blip>
          <a:srcRect b="0" l="0" r="0" t="12111"/>
          <a:stretch/>
        </p:blipFill>
        <p:spPr>
          <a:xfrm>
            <a:off x="1004088" y="1061225"/>
            <a:ext cx="7116784" cy="371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5eaa42ac1_0_1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Предсказание доходности</a:t>
            </a:r>
            <a:endParaRPr/>
          </a:p>
        </p:txBody>
      </p:sp>
      <p:sp>
        <p:nvSpPr>
          <p:cNvPr id="249" name="Google Shape;249;g3e5eaa42ac1_0_12"/>
          <p:cNvSpPr txBox="1"/>
          <p:nvPr/>
        </p:nvSpPr>
        <p:spPr>
          <a:xfrm>
            <a:off x="6144000" y="47751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9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50" name="Google Shape;250;g3e5eaa42ac1_0_12"/>
          <p:cNvPicPr preferRelativeResize="0"/>
          <p:nvPr/>
        </p:nvPicPr>
        <p:blipFill rotWithShape="1">
          <a:blip r:embed="rId3">
            <a:alphaModFix/>
          </a:blip>
          <a:srcRect b="0" l="0" r="0" t="11512"/>
          <a:stretch/>
        </p:blipFill>
        <p:spPr>
          <a:xfrm>
            <a:off x="1003088" y="999825"/>
            <a:ext cx="7137824" cy="3848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490387d3b_0_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интерфейса</a:t>
            </a:r>
            <a:endParaRPr/>
          </a:p>
        </p:txBody>
      </p:sp>
      <p:sp>
        <p:nvSpPr>
          <p:cNvPr id="257" name="Google Shape;257;g3e490387d3b_0_6"/>
          <p:cNvSpPr txBox="1"/>
          <p:nvPr/>
        </p:nvSpPr>
        <p:spPr>
          <a:xfrm>
            <a:off x="6144000" y="47809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10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58" name="Google Shape;258;g3e490387d3b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800" y="944650"/>
            <a:ext cx="7445350" cy="386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91cf2e9a2d_0_349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265" name="Google Shape;265;g391cf2e9a2d_0_349"/>
          <p:cNvSpPr txBox="1"/>
          <p:nvPr>
            <p:ph idx="1" type="body"/>
          </p:nvPr>
        </p:nvSpPr>
        <p:spPr>
          <a:xfrm>
            <a:off x="609774" y="12104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/>
              <a:t>Результаты: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arenR"/>
            </a:pPr>
            <a:r>
              <a:rPr lang="ru-RU" sz="1600"/>
              <a:t>разработана архитектура системы;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arenR"/>
            </a:pPr>
            <a:r>
              <a:rPr lang="ru-RU" sz="1600"/>
              <a:t>собрано более 600 тысяч строк данных котировок и более 200 тысяч строк данных новостей;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arenR"/>
            </a:pPr>
            <a:r>
              <a:rPr lang="ru-RU" sz="1600"/>
              <a:t>лучшая модель для задачи определения событий CatBoost: ROC-AUC = 0.68, Precision@5% = 0.87; для задачи предсказания HGBoost: MAE = 1.545, Hit-rate = 0.504;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arenR"/>
            </a:pPr>
            <a:r>
              <a:rPr lang="ru-RU" sz="1600"/>
              <a:t>создан пользовательский интерфейс.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/>
              <a:t>Дальнейшие шаги: </a:t>
            </a:r>
            <a:r>
              <a:rPr lang="ru-RU" sz="1600"/>
              <a:t>расширение и повышение качества набора новостных данных; тестирование нейросетевых моделей. </a:t>
            </a:r>
            <a:endParaRPr sz="1600"/>
          </a:p>
        </p:txBody>
      </p:sp>
      <p:sp>
        <p:nvSpPr>
          <p:cNvPr id="266" name="Google Shape;266;g391cf2e9a2d_0_3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11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"/>
          <p:cNvSpPr txBox="1"/>
          <p:nvPr>
            <p:ph type="title"/>
          </p:nvPr>
        </p:nvSpPr>
        <p:spPr>
          <a:xfrm>
            <a:off x="457200" y="2261388"/>
            <a:ext cx="82296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t/>
            </a:r>
            <a:endParaRPr sz="4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2500"/>
              <a:t>Контакты: denisovila328@gmail.com</a:t>
            </a:r>
            <a:endParaRPr sz="2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2500"/>
              <a:t>Денисов Илья Алексеевич</a:t>
            </a:r>
            <a:endParaRPr sz="2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t/>
            </a:r>
            <a:endParaRPr sz="4400"/>
          </a:p>
        </p:txBody>
      </p:sp>
      <p:sp>
        <p:nvSpPr>
          <p:cNvPr id="272" name="Google Shape;272;p12"/>
          <p:cNvSpPr txBox="1"/>
          <p:nvPr/>
        </p:nvSpPr>
        <p:spPr>
          <a:xfrm>
            <a:off x="6880123" y="4468762"/>
            <a:ext cx="19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4a6605a23_0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Лучший алгоритм (классификация)</a:t>
            </a:r>
            <a:endParaRPr/>
          </a:p>
        </p:txBody>
      </p:sp>
      <p:sp>
        <p:nvSpPr>
          <p:cNvPr id="279" name="Google Shape;279;g3e4a6605a23_0_0"/>
          <p:cNvSpPr txBox="1"/>
          <p:nvPr/>
        </p:nvSpPr>
        <p:spPr>
          <a:xfrm>
            <a:off x="6144000" y="47751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9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aphicFrame>
        <p:nvGraphicFramePr>
          <p:cNvPr id="280" name="Google Shape;280;g3e4a6605a23_0_0"/>
          <p:cNvGraphicFramePr/>
          <p:nvPr/>
        </p:nvGraphicFramePr>
        <p:xfrm>
          <a:off x="869400" y="1878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{C5C67C69-05ED-4769-9307-399D40E12A4A}</a:tableStyleId>
              </a:tblPr>
              <a:tblGrid>
                <a:gridCol w="1575300"/>
                <a:gridCol w="850800"/>
                <a:gridCol w="850800"/>
                <a:gridCol w="875750"/>
                <a:gridCol w="1231100"/>
                <a:gridCol w="1367700"/>
              </a:tblGrid>
              <a:tr h="65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Набор признаков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F1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ROC-AUC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PR-AUC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Precision@5%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Precision@10%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Только новости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0.483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0.497  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0.511 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0.607       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0.569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Рынок в момент новости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0.541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0.680  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0.688   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0.875       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0.804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Новости+рынок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0.538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0.675  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0.680 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0.866       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0.791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1" name="Google Shape;281;g3e4a6605a23_0_0"/>
          <p:cNvSpPr txBox="1"/>
          <p:nvPr/>
        </p:nvSpPr>
        <p:spPr>
          <a:xfrm>
            <a:off x="869400" y="1109863"/>
            <a:ext cx="751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В задаче классификации лучший: CatBoost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5eaa42ac1_0_34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Лучший алгоритм (регрессия)</a:t>
            </a:r>
            <a:endParaRPr/>
          </a:p>
        </p:txBody>
      </p:sp>
      <p:sp>
        <p:nvSpPr>
          <p:cNvPr id="288" name="Google Shape;288;g3e5eaa42ac1_0_34"/>
          <p:cNvSpPr txBox="1"/>
          <p:nvPr/>
        </p:nvSpPr>
        <p:spPr>
          <a:xfrm>
            <a:off x="6144000" y="47751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9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aphicFrame>
        <p:nvGraphicFramePr>
          <p:cNvPr id="289" name="Google Shape;289;g3e5eaa42ac1_0_34"/>
          <p:cNvGraphicFramePr/>
          <p:nvPr/>
        </p:nvGraphicFramePr>
        <p:xfrm>
          <a:off x="869400" y="165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{C5C67C69-05ED-4769-9307-399D40E12A4A}</a:tableStyleId>
              </a:tblPr>
              <a:tblGrid>
                <a:gridCol w="1996725"/>
                <a:gridCol w="1078400"/>
                <a:gridCol w="1078400"/>
                <a:gridCol w="1143150"/>
                <a:gridCol w="1361975"/>
              </a:tblGrid>
              <a:tr h="641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Набор признаков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MAE, %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RMSE, %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R²    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Hit-rate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Только новости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1.545 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2.213  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-0.013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0.504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Рынок в момент новости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1.565 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2.246  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-0.043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0.490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Новости+рынок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1.575   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2.257  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-0.054   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0.472</a:t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0" name="Google Shape;290;g3e5eaa42ac1_0_34"/>
          <p:cNvSpPr txBox="1"/>
          <p:nvPr/>
        </p:nvSpPr>
        <p:spPr>
          <a:xfrm>
            <a:off x="869325" y="998950"/>
            <a:ext cx="665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В задаче регрессии лучший: HistGradientBoosting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b8ef052661_0_1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Источники данных</a:t>
            </a:r>
            <a:endParaRPr/>
          </a:p>
        </p:txBody>
      </p:sp>
      <p:sp>
        <p:nvSpPr>
          <p:cNvPr id="297" name="Google Shape;297;g3b8ef052661_0_12"/>
          <p:cNvSpPr txBox="1"/>
          <p:nvPr/>
        </p:nvSpPr>
        <p:spPr>
          <a:xfrm>
            <a:off x="5157000" y="1395675"/>
            <a:ext cx="311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Новости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98" name="Google Shape;298;g3b8ef052661_0_12"/>
          <p:cNvSpPr/>
          <p:nvPr/>
        </p:nvSpPr>
        <p:spPr>
          <a:xfrm>
            <a:off x="868800" y="1886625"/>
            <a:ext cx="3000000" cy="2031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1600">
                <a:latin typeface="Golos Text"/>
                <a:ea typeface="Golos Text"/>
                <a:cs typeface="Golos Text"/>
                <a:sym typeface="Golos Text"/>
              </a:rPr>
              <a:t>Источники: MOEX API</a:t>
            </a:r>
            <a:endParaRPr sz="16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1600">
                <a:latin typeface="Golos Text"/>
                <a:ea typeface="Golos Text"/>
                <a:cs typeface="Golos Text"/>
                <a:sym typeface="Golos Text"/>
              </a:rPr>
              <a:t>Поля</a:t>
            </a:r>
            <a:r>
              <a:rPr lang="ru-RU" sz="1600">
                <a:latin typeface="Golos Text"/>
                <a:ea typeface="Golos Text"/>
                <a:cs typeface="Golos Text"/>
                <a:sym typeface="Golos Text"/>
              </a:rPr>
              <a:t>: {open, high, low, close, volume, datetime}</a:t>
            </a:r>
            <a:endParaRPr sz="16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1600">
                <a:latin typeface="Golos Text"/>
                <a:ea typeface="Golos Text"/>
                <a:cs typeface="Golos Text"/>
                <a:sym typeface="Golos Text"/>
              </a:rPr>
              <a:t>Частота: часовая (1h)</a:t>
            </a:r>
            <a:endParaRPr sz="16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99" name="Google Shape;299;g3b8ef052661_0_12"/>
          <p:cNvSpPr txBox="1"/>
          <p:nvPr/>
        </p:nvSpPr>
        <p:spPr>
          <a:xfrm>
            <a:off x="868800" y="13940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Котировки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00" name="Google Shape;300;g3b8ef052661_0_12"/>
          <p:cNvSpPr/>
          <p:nvPr/>
        </p:nvSpPr>
        <p:spPr>
          <a:xfrm>
            <a:off x="5234325" y="1886625"/>
            <a:ext cx="3000000" cy="2031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Источники: агрегаторы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Поля: {title, content, source, datetime, url}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Частота: часовая (1h)</a:t>
            </a:r>
            <a:endParaRPr sz="16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01" name="Google Shape;301;g3b8ef052661_0_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83f8d5ae5_0_1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Разработка интерфейса</a:t>
            </a:r>
            <a:endParaRPr/>
          </a:p>
        </p:txBody>
      </p:sp>
      <p:sp>
        <p:nvSpPr>
          <p:cNvPr id="308" name="Google Shape;308;g3d83f8d5ae5_0_12"/>
          <p:cNvSpPr txBox="1"/>
          <p:nvPr/>
        </p:nvSpPr>
        <p:spPr>
          <a:xfrm>
            <a:off x="6144000" y="47809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10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309" name="Google Shape;309;g3d83f8d5ae5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9650" y="932775"/>
            <a:ext cx="5553075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e27ffa3ad3_0_3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Результаты экспериментов</a:t>
            </a:r>
            <a:endParaRPr/>
          </a:p>
        </p:txBody>
      </p:sp>
      <p:sp>
        <p:nvSpPr>
          <p:cNvPr id="316" name="Google Shape;316;g3e27ffa3ad3_0_36"/>
          <p:cNvSpPr txBox="1"/>
          <p:nvPr/>
        </p:nvSpPr>
        <p:spPr>
          <a:xfrm>
            <a:off x="6144000" y="47751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9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aphicFrame>
        <p:nvGraphicFramePr>
          <p:cNvPr id="317" name="Google Shape;317;g3e27ffa3ad3_0_36"/>
          <p:cNvGraphicFramePr/>
          <p:nvPr/>
        </p:nvGraphicFramePr>
        <p:xfrm>
          <a:off x="869400" y="1343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{C5C67C69-05ED-4769-9307-399D40E12A4A}</a:tableStyleId>
              </a:tblPr>
              <a:tblGrid>
                <a:gridCol w="1766475"/>
                <a:gridCol w="954075"/>
                <a:gridCol w="982050"/>
                <a:gridCol w="1234200"/>
                <a:gridCol w="1299575"/>
                <a:gridCol w="757950"/>
              </a:tblGrid>
              <a:tr h="65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Модель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ROC-AUC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PR-AUC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Precision@5%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Precision@10%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F1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HistGradientBoosting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0.669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0.680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0.866	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0.796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0.550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CatBoost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0.680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0.688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0.875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0.804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0.541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LogReg balanced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0.648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0.651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0.750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0.751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0.524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ExtraTrees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0.660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0.670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0.830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0.796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0.518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27ffa3ad3_0_43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Аналоги</a:t>
            </a:r>
            <a:endParaRPr/>
          </a:p>
        </p:txBody>
      </p:sp>
      <p:sp>
        <p:nvSpPr>
          <p:cNvPr id="324" name="Google Shape;324;g3e27ffa3ad3_0_43"/>
          <p:cNvSpPr txBox="1"/>
          <p:nvPr/>
        </p:nvSpPr>
        <p:spPr>
          <a:xfrm>
            <a:off x="8839200" y="4743300"/>
            <a:ext cx="30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e27ffa3ad3_0_43"/>
          <p:cNvSpPr/>
          <p:nvPr/>
        </p:nvSpPr>
        <p:spPr>
          <a:xfrm>
            <a:off x="457200" y="938000"/>
            <a:ext cx="2442900" cy="151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latin typeface="Golos Text"/>
                <a:ea typeface="Golos Text"/>
                <a:cs typeface="Golos Text"/>
                <a:sym typeface="Golos Text"/>
              </a:rPr>
              <a:t>Finam AI-скринер, T-Инвестиции</a:t>
            </a:r>
            <a:endParaRPr b="0" i="0" sz="20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26" name="Google Shape;326;g3e27ffa3ad3_0_43"/>
          <p:cNvSpPr/>
          <p:nvPr/>
        </p:nvSpPr>
        <p:spPr>
          <a:xfrm>
            <a:off x="547600" y="2557475"/>
            <a:ext cx="2442900" cy="151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RavenPack, Stockpulse, arya.ai</a:t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27" name="Google Shape;327;g3e27ffa3ad3_0_43"/>
          <p:cNvSpPr/>
          <p:nvPr/>
        </p:nvSpPr>
        <p:spPr>
          <a:xfrm>
            <a:off x="4874725" y="1133975"/>
            <a:ext cx="3732300" cy="95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630000" spcFirstLastPara="1" rIns="91425" wrap="square" tIns="91425">
            <a:noAutofit/>
          </a:bodyPr>
          <a:lstStyle/>
          <a:p>
            <a:pPr indent="-36195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latin typeface="Golos Text"/>
                <a:ea typeface="Golos Text"/>
                <a:cs typeface="Golos Text"/>
                <a:sym typeface="Golos Text"/>
              </a:rPr>
              <a:t>  • нет прогноза цен по новостям</a:t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28" name="Google Shape;328;g3e27ffa3ad3_0_43"/>
          <p:cNvSpPr/>
          <p:nvPr/>
        </p:nvSpPr>
        <p:spPr>
          <a:xfrm>
            <a:off x="4619575" y="2708225"/>
            <a:ext cx="3818700" cy="1213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высокая стоимость 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не для российского рынка</a:t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329" name="Google Shape;329;g3e27ffa3ad3_0_43"/>
          <p:cNvCxnSpPr>
            <a:stCxn id="325" idx="3"/>
            <a:endCxn id="327" idx="1"/>
          </p:cNvCxnSpPr>
          <p:nvPr/>
        </p:nvCxnSpPr>
        <p:spPr>
          <a:xfrm flipH="1" rot="10800000">
            <a:off x="2900100" y="1609550"/>
            <a:ext cx="1974600" cy="86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0" name="Google Shape;330;g3e27ffa3ad3_0_43"/>
          <p:cNvCxnSpPr/>
          <p:nvPr/>
        </p:nvCxnSpPr>
        <p:spPr>
          <a:xfrm flipH="1" rot="10800000">
            <a:off x="2990500" y="3282275"/>
            <a:ext cx="1629000" cy="65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d83f8d5ae5_0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Результаты экспериментов</a:t>
            </a:r>
            <a:endParaRPr/>
          </a:p>
        </p:txBody>
      </p:sp>
      <p:graphicFrame>
        <p:nvGraphicFramePr>
          <p:cNvPr id="337" name="Google Shape;337;g3d83f8d5ae5_0_0"/>
          <p:cNvGraphicFramePr/>
          <p:nvPr/>
        </p:nvGraphicFramePr>
        <p:xfrm>
          <a:off x="1709613" y="1285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{C5C67C69-05ED-4769-9307-399D40E12A4A}</a:tableStyleId>
              </a:tblPr>
              <a:tblGrid>
                <a:gridCol w="2563625"/>
                <a:gridCol w="1128250"/>
                <a:gridCol w="1128250"/>
                <a:gridCol w="1128250"/>
              </a:tblGrid>
              <a:tr h="50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Эксперимент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precision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recall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F1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Базовая модель, без новостей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0.48</a:t>
                      </a:r>
                      <a:endParaRPr sz="12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 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0.17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0.24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7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Б</a:t>
                      </a:r>
                      <a:r>
                        <a:rPr lang="ru-RU" sz="1200"/>
                        <a:t>алансировка классов, без новостей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0.48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0.50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0.49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6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Б</a:t>
                      </a:r>
                      <a:r>
                        <a:rPr lang="ru-RU" sz="1200"/>
                        <a:t>алансировка классов, сентимент (на правилах)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0.51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0.68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0.58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6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Б</a:t>
                      </a:r>
                      <a:r>
                        <a:rPr lang="ru-RU" sz="1200"/>
                        <a:t>алансировка классов, сентимент (ruBERT)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0.50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0.76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/>
                        <a:t>0.61</a:t>
                      </a:r>
                      <a:endParaRPr sz="1200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8" name="Google Shape;338;g3d83f8d5ae5_0_0"/>
          <p:cNvSpPr txBox="1"/>
          <p:nvPr/>
        </p:nvSpPr>
        <p:spPr>
          <a:xfrm>
            <a:off x="6144000" y="47751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8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871475868_0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Построение моделей</a:t>
            </a:r>
            <a:endParaRPr/>
          </a:p>
        </p:txBody>
      </p:sp>
      <p:sp>
        <p:nvSpPr>
          <p:cNvPr id="345" name="Google Shape;345;g3d871475868_0_0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ru-RU"/>
              <a:t>базовый алгоритм - </a:t>
            </a:r>
            <a:r>
              <a:rPr lang="ru-RU"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Random Forest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сентимент</a:t>
            </a:r>
            <a:r>
              <a:rPr lang="ru-RU"/>
              <a:t> - на правилах, ruBERT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/>
              <a:t>гиперпараметры: окно агрегации новостей, горизонт прогнозирования, выбор данных для обучения (только рынок/рынок+новости)</a:t>
            </a:r>
            <a:endParaRPr/>
          </a:p>
        </p:txBody>
      </p:sp>
      <p:sp>
        <p:nvSpPr>
          <p:cNvPr id="346" name="Google Shape;346;g3d871475868_0_0"/>
          <p:cNvSpPr txBox="1"/>
          <p:nvPr/>
        </p:nvSpPr>
        <p:spPr>
          <a:xfrm>
            <a:off x="6144000" y="47751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7</a:t>
            </a:r>
            <a:endParaRPr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b8ef052661_0_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Постановка ML задачи</a:t>
            </a:r>
            <a:endParaRPr/>
          </a:p>
        </p:txBody>
      </p:sp>
      <p:sp>
        <p:nvSpPr>
          <p:cNvPr id="353" name="Google Shape;353;g3b8ef052661_0_6"/>
          <p:cNvSpPr/>
          <p:nvPr/>
        </p:nvSpPr>
        <p:spPr>
          <a:xfrm>
            <a:off x="1212390" y="2272823"/>
            <a:ext cx="2224500" cy="13797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50" lIns="83250" spcFirstLastPara="1" rIns="83250" wrap="square" tIns="83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1"/>
              <a:buFont typeface="Arial"/>
              <a:buNone/>
            </a:pPr>
            <a:r>
              <a:rPr lang="ru-RU" sz="2021">
                <a:latin typeface="Golos Text"/>
                <a:ea typeface="Golos Text"/>
                <a:cs typeface="Golos Text"/>
                <a:sym typeface="Golos Text"/>
              </a:rPr>
              <a:t>Новости,</a:t>
            </a:r>
            <a:endParaRPr sz="2021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1"/>
              <a:buFont typeface="Arial"/>
              <a:buNone/>
            </a:pPr>
            <a:r>
              <a:rPr lang="ru-RU" sz="2021">
                <a:latin typeface="Golos Text"/>
                <a:ea typeface="Golos Text"/>
                <a:cs typeface="Golos Text"/>
                <a:sym typeface="Golos Text"/>
              </a:rPr>
              <a:t>Котировки акций</a:t>
            </a:r>
            <a:endParaRPr sz="202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54" name="Google Shape;354;g3b8ef052661_0_6"/>
          <p:cNvSpPr/>
          <p:nvPr/>
        </p:nvSpPr>
        <p:spPr>
          <a:xfrm>
            <a:off x="5601800" y="2272825"/>
            <a:ext cx="2329800" cy="1379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50" lIns="83250" spcFirstLastPara="1" rIns="83250" wrap="square" tIns="83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1"/>
              <a:buFont typeface="Arial"/>
              <a:buNone/>
            </a:pPr>
            <a:r>
              <a:rPr lang="ru-RU" sz="2021">
                <a:latin typeface="Golos Text"/>
                <a:ea typeface="Golos Text"/>
                <a:cs typeface="Golos Text"/>
                <a:sym typeface="Golos Text"/>
              </a:rPr>
              <a:t>Рост/не рост</a:t>
            </a:r>
            <a:endParaRPr sz="2021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1"/>
              <a:buFont typeface="Arial"/>
              <a:buNone/>
            </a:pPr>
            <a:r>
              <a:rPr lang="ru-RU" sz="2021">
                <a:latin typeface="Golos Text"/>
                <a:ea typeface="Golos Text"/>
                <a:cs typeface="Golos Text"/>
                <a:sym typeface="Golos Text"/>
              </a:rPr>
              <a:t>(вероятность роста)</a:t>
            </a:r>
            <a:endParaRPr sz="2021"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355" name="Google Shape;355;g3b8ef052661_0_6"/>
          <p:cNvCxnSpPr>
            <a:stCxn id="353" idx="3"/>
            <a:endCxn id="354" idx="1"/>
          </p:cNvCxnSpPr>
          <p:nvPr/>
        </p:nvCxnSpPr>
        <p:spPr>
          <a:xfrm>
            <a:off x="3436890" y="2962673"/>
            <a:ext cx="2164800" cy="0"/>
          </a:xfrm>
          <a:prstGeom prst="straightConnector1">
            <a:avLst/>
          </a:prstGeom>
          <a:noFill/>
          <a:ln cap="flat" cmpd="sng" w="347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6" name="Google Shape;356;g3b8ef052661_0_6"/>
          <p:cNvSpPr txBox="1"/>
          <p:nvPr/>
        </p:nvSpPr>
        <p:spPr>
          <a:xfrm>
            <a:off x="1727856" y="1544015"/>
            <a:ext cx="11934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83250" lIns="83250" spcFirstLastPara="1" rIns="83250" wrap="square" tIns="83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1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57" name="Google Shape;357;g3b8ef052661_0_6"/>
          <p:cNvSpPr/>
          <p:nvPr/>
        </p:nvSpPr>
        <p:spPr>
          <a:xfrm>
            <a:off x="1727867" y="1490975"/>
            <a:ext cx="1193400" cy="681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50" lIns="83250" spcFirstLastPara="1" rIns="83250" wrap="square" tIns="83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2"/>
              <a:buFont typeface="Arial"/>
              <a:buNone/>
            </a:pPr>
            <a:r>
              <a:rPr lang="ru-RU" sz="2012">
                <a:latin typeface="Golos Text"/>
                <a:ea typeface="Golos Text"/>
                <a:cs typeface="Golos Text"/>
                <a:sym typeface="Golos Text"/>
              </a:rPr>
              <a:t>Вход</a:t>
            </a:r>
            <a:endParaRPr i="0" sz="2012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58" name="Google Shape;358;g3b8ef052661_0_6"/>
          <p:cNvSpPr/>
          <p:nvPr/>
        </p:nvSpPr>
        <p:spPr>
          <a:xfrm>
            <a:off x="6117278" y="1490975"/>
            <a:ext cx="1193400" cy="681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50" lIns="83250" spcFirstLastPara="1" rIns="83250" wrap="square" tIns="83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2"/>
              <a:buFont typeface="Arial"/>
              <a:buNone/>
            </a:pPr>
            <a:r>
              <a:rPr lang="ru-RU" sz="2012">
                <a:latin typeface="Golos Text"/>
                <a:ea typeface="Golos Text"/>
                <a:cs typeface="Golos Text"/>
                <a:sym typeface="Golos Text"/>
              </a:rPr>
              <a:t>Выход</a:t>
            </a:r>
            <a:endParaRPr i="0" sz="2012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59" name="Google Shape;359;g3b8ef052661_0_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6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b8d50d3210_0_1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/>
              <a:t>Актуальность</a:t>
            </a:r>
            <a:endParaRPr/>
          </a:p>
        </p:txBody>
      </p:sp>
      <p:sp>
        <p:nvSpPr>
          <p:cNvPr id="365" name="Google Shape;365;g3b8d50d3210_0_1"/>
          <p:cNvSpPr txBox="1"/>
          <p:nvPr/>
        </p:nvSpPr>
        <p:spPr>
          <a:xfrm>
            <a:off x="457200" y="1196550"/>
            <a:ext cx="7418400" cy="3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olos Text"/>
              <a:buChar char="●"/>
            </a:pPr>
            <a:r>
              <a:rPr lang="ru-RU" sz="1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Ручной анализ новостей становится неэффективным из-за объёмов и скорости информации</a:t>
            </a:r>
            <a:endParaRPr sz="1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238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olos Text"/>
              <a:buChar char="●"/>
            </a:pPr>
            <a:r>
              <a:rPr lang="ru-RU" sz="1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Методы NLP и ML позволяют автоматизировать обработку текстов и выявлять скрытые закономерности</a:t>
            </a:r>
            <a:endParaRPr sz="1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238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olos Text"/>
              <a:buChar char="●"/>
            </a:pPr>
            <a:r>
              <a:rPr lang="ru-RU" sz="1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Требуется разработка открытого и специализированного решения для российского фондового рынка</a:t>
            </a:r>
            <a:endParaRPr sz="1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66" name="Google Shape;366;g3b8d50d3210_0_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8ef052661_0_1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Предобработка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3" name="Google Shape;373;g3b8ef052661_0_18"/>
          <p:cNvSpPr txBox="1"/>
          <p:nvPr>
            <p:ph idx="1" type="body"/>
          </p:nvPr>
        </p:nvSpPr>
        <p:spPr>
          <a:xfrm>
            <a:off x="508000" y="1792275"/>
            <a:ext cx="3635700" cy="3178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удаление дубликатов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нормализация формата времени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фильтрация по компаниям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токенизация, </a:t>
            </a:r>
            <a:r>
              <a:rPr lang="ru-RU" sz="1600"/>
              <a:t>лемматизация </a:t>
            </a:r>
            <a:endParaRPr sz="1600"/>
          </a:p>
        </p:txBody>
      </p:sp>
      <p:sp>
        <p:nvSpPr>
          <p:cNvPr id="374" name="Google Shape;374;g3b8ef052661_0_18"/>
          <p:cNvSpPr txBox="1"/>
          <p:nvPr>
            <p:ph idx="2" type="body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ru-RU" sz="2000" u="none"/>
              <a:t>Для новостей</a:t>
            </a:r>
            <a:endParaRPr sz="2000" u="none"/>
          </a:p>
        </p:txBody>
      </p:sp>
      <p:sp>
        <p:nvSpPr>
          <p:cNvPr id="375" name="Google Shape;375;g3b8ef052661_0_18"/>
          <p:cNvSpPr txBox="1"/>
          <p:nvPr>
            <p:ph idx="3" type="body"/>
          </p:nvPr>
        </p:nvSpPr>
        <p:spPr>
          <a:xfrm>
            <a:off x="4970050" y="1792275"/>
            <a:ext cx="3887700" cy="183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проверка пропусков и выравнивание по датам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сглаживание и очистка выбросов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-RU" sz="1600"/>
              <a:t>нормализация формата времени</a:t>
            </a:r>
            <a:endParaRPr sz="1600"/>
          </a:p>
        </p:txBody>
      </p:sp>
      <p:sp>
        <p:nvSpPr>
          <p:cNvPr id="376" name="Google Shape;376;g3b8ef052661_0_18"/>
          <p:cNvSpPr txBox="1"/>
          <p:nvPr>
            <p:ph idx="4" type="body"/>
          </p:nvPr>
        </p:nvSpPr>
        <p:spPr>
          <a:xfrm>
            <a:off x="4970046" y="1182459"/>
            <a:ext cx="2961000" cy="59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ru-RU" sz="2000" u="none"/>
              <a:t>Для котировок</a:t>
            </a:r>
            <a:endParaRPr sz="2000" u="none"/>
          </a:p>
        </p:txBody>
      </p:sp>
      <p:sp>
        <p:nvSpPr>
          <p:cNvPr id="377" name="Google Shape;377;g3b8ef052661_0_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8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8ef052661_1_13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Границы исследования</a:t>
            </a:r>
            <a:endParaRPr/>
          </a:p>
        </p:txBody>
      </p:sp>
      <p:sp>
        <p:nvSpPr>
          <p:cNvPr id="384" name="Google Shape;384;g3b8ef052661_1_13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Объект исследования: акции российских компаний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Горизонт прогноза: T+1 день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Реакция рынка: задержка 1–3 дня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Источники данных: GNews / MOEX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Не рассматривается: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⛔ инсайдерская информация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⛔ прогнозирование на больших горизонтах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⛔ макроэкономические индикаторы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600"/>
              <a:t>⛔ социальные сети / twitter / sentiment трейдинг</a:t>
            </a:r>
            <a:endParaRPr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8ef052661_0_24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Итоговый датасет</a:t>
            </a:r>
            <a:endParaRPr/>
          </a:p>
        </p:txBody>
      </p:sp>
      <p:sp>
        <p:nvSpPr>
          <p:cNvPr id="391" name="Google Shape;391;g3b8ef052661_0_24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400"/>
              <a:t>Процедура: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Golos Text"/>
              <a:buAutoNum type="arabicPeriod"/>
            </a:pPr>
            <a:r>
              <a:rPr lang="ru-RU" sz="1400"/>
              <a:t>Привязка новостей к тикеру компании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AutoNum type="arabicPeriod"/>
            </a:pPr>
            <a:r>
              <a:rPr lang="ru-RU" sz="1400"/>
              <a:t>Привязка времени публикации к торговому дню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AutoNum type="arabicPeriod"/>
            </a:pPr>
            <a:r>
              <a:rPr lang="ru-RU" sz="1400"/>
              <a:t>Выбор окна реакции рынка (1–3 дня)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AutoNum type="arabicPeriod"/>
            </a:pPr>
            <a:r>
              <a:rPr lang="ru-RU" sz="1400"/>
              <a:t>Формирование обучающих признаков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AutoNum type="arabicPeriod"/>
            </a:pPr>
            <a:r>
              <a:rPr lang="ru-RU" sz="1400"/>
              <a:t>Подготовка целевой переменной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2" name="Google Shape;392;g3b8ef052661_0_24"/>
          <p:cNvPicPr preferRelativeResize="0"/>
          <p:nvPr/>
        </p:nvPicPr>
        <p:blipFill rotWithShape="1">
          <a:blip r:embed="rId3">
            <a:alphaModFix/>
          </a:blip>
          <a:srcRect b="35860" l="0" r="0" t="27384"/>
          <a:stretch/>
        </p:blipFill>
        <p:spPr>
          <a:xfrm>
            <a:off x="714375" y="2764275"/>
            <a:ext cx="7715251" cy="18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937c34cdc_0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Выбор модели</a:t>
            </a:r>
            <a:endParaRPr/>
          </a:p>
        </p:txBody>
      </p:sp>
      <p:sp>
        <p:nvSpPr>
          <p:cNvPr id="399" name="Google Shape;399;g3b937c34cdc_0_0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0" name="Google Shape;400;g3b937c34cd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699" y="874350"/>
            <a:ext cx="6870200" cy="406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